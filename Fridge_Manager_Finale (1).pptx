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12192000"/>
  <p:embeddedFontLst>
    <p:embeddedFont>
      <p:font typeface="Poppi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Poppins-bold.fntdata"/><Relationship Id="rId27" Type="http://schemas.openxmlformats.org/officeDocument/2006/relationships/font" Target="fonts/Poppins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Poppi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font" Target="fonts/Poppins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1" name="Google Shape;49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3ea2f016728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9" name="Google Shape;539;g3ea2f016728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g3ea2f016728_0_4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5" name="Google Shape;58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3ea2f016728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g3ea2f016728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g3ea2f016728_0_6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ea2f01672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g3ea2f01672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ea2f01672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Relationship Id="rId7" Type="http://schemas.openxmlformats.org/officeDocument/2006/relationships/image" Target="../media/image23.png"/><Relationship Id="rId8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Relationship Id="rId5" Type="http://schemas.openxmlformats.org/officeDocument/2006/relationships/image" Target="../media/image23.png"/><Relationship Id="rId6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ithub.com/antoninoval12/fridge-manager.git" TargetMode="External"/><Relationship Id="rId4" Type="http://schemas.openxmlformats.org/officeDocument/2006/relationships/image" Target="../media/image31.png"/><Relationship Id="rId5" Type="http://schemas.openxmlformats.org/officeDocument/2006/relationships/hyperlink" Target="https://github.com/antoninoval12/fridge-manager.git" TargetMode="External"/><Relationship Id="rId6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6095848" cy="1051560"/>
          </a:xfrm>
          <a:prstGeom prst="rect">
            <a:avLst/>
          </a:prstGeom>
          <a:solidFill>
            <a:srgbClr val="11B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66928" y="310896"/>
            <a:ext cx="342351" cy="438912"/>
          </a:xfrm>
          <a:prstGeom prst="roundRect">
            <a:avLst>
              <a:gd fmla="val 18697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" name="Google Shape;19;p3"/>
          <p:cNvCxnSpPr/>
          <p:nvPr/>
        </p:nvCxnSpPr>
        <p:spPr>
          <a:xfrm>
            <a:off x="566928" y="495239"/>
            <a:ext cx="342351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3"/>
          <p:cNvSpPr/>
          <p:nvPr/>
        </p:nvSpPr>
        <p:spPr>
          <a:xfrm>
            <a:off x="621704" y="363565"/>
            <a:ext cx="44506" cy="79004"/>
          </a:xfrm>
          <a:prstGeom prst="roundRect">
            <a:avLst>
              <a:gd fmla="val 4109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738104" y="539130"/>
            <a:ext cx="0" cy="140452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667878" y="567221"/>
            <a:ext cx="140452" cy="84271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 flipH="1" rot="10800000">
            <a:off x="667878" y="567221"/>
            <a:ext cx="140452" cy="84271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1143000" y="292608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Fridge</a:t>
            </a:r>
            <a:r>
              <a:rPr b="1" i="0" lang="en-US" sz="2200" u="none" cap="none" strike="noStrike">
                <a:solidFill>
                  <a:srgbClr val="DCF5EB"/>
                </a:solidFill>
                <a:latin typeface="Poppins"/>
                <a:ea typeface="Poppins"/>
                <a:cs typeface="Poppins"/>
                <a:sym typeface="Poppins"/>
              </a:rPr>
              <a:t>Manager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566928" y="1783080"/>
            <a:ext cx="11064240" cy="4023360"/>
          </a:xfrm>
          <a:prstGeom prst="roundRect">
            <a:avLst>
              <a:gd fmla="val 2955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05845" y="2136315"/>
            <a:ext cx="10515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5400"/>
              <a:buFont typeface="Poppins"/>
              <a:buNone/>
            </a:pPr>
            <a:r>
              <a:rPr b="1" i="0" lang="en-US" sz="5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Fridge </a:t>
            </a:r>
            <a:r>
              <a:rPr b="1" i="0" lang="en-US" sz="5400" u="none" cap="none" strike="noStrike">
                <a:solidFill>
                  <a:srgbClr val="0FB37A"/>
                </a:solidFill>
                <a:latin typeface="Poppins"/>
                <a:ea typeface="Poppins"/>
                <a:cs typeface="Poppins"/>
                <a:sym typeface="Poppins"/>
              </a:rPr>
              <a:t>Manager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005850" y="3457750"/>
            <a:ext cx="10515600" cy="70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800"/>
              <a:buFont typeface="Poppins"/>
              <a:buNone/>
            </a:pPr>
            <a:r>
              <a:rPr b="0" i="0" lang="en-US" sz="180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Sistema informativo per la </a:t>
            </a:r>
            <a:r>
              <a:rPr b="0" i="0" lang="en-US" sz="1800" u="none" cap="none" strike="noStrike">
                <a:solidFill>
                  <a:srgbClr val="0FB37A"/>
                </a:solidFill>
                <a:latin typeface="Poppins"/>
                <a:ea typeface="Poppins"/>
                <a:cs typeface="Poppins"/>
                <a:sym typeface="Poppins"/>
              </a:rPr>
              <a:t>gestione intelligente </a:t>
            </a:r>
            <a:r>
              <a:rPr b="0" i="0" lang="en-US" sz="180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degli </a:t>
            </a:r>
            <a:r>
              <a:rPr b="0" i="0" lang="en-US" sz="1800" u="none" cap="none" strike="noStrike">
                <a:solidFill>
                  <a:srgbClr val="0FB37A"/>
                </a:solidFill>
                <a:latin typeface="Poppins"/>
                <a:ea typeface="Poppins"/>
                <a:cs typeface="Poppins"/>
                <a:sym typeface="Poppins"/>
              </a:rPr>
              <a:t>alimenti </a:t>
            </a:r>
            <a:r>
              <a:rPr b="0" i="0" lang="en-US" sz="180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domestici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4510321" y="4846320"/>
            <a:ext cx="887100" cy="329100"/>
          </a:xfrm>
          <a:prstGeom prst="roundRect">
            <a:avLst>
              <a:gd fmla="val 50000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4510321" y="4846320"/>
            <a:ext cx="887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Django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5561881" y="4846320"/>
            <a:ext cx="791100" cy="329100"/>
          </a:xfrm>
          <a:prstGeom prst="roundRect">
            <a:avLst>
              <a:gd fmla="val 50000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5561881" y="4846320"/>
            <a:ext cx="791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MySQL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6517429" y="4846320"/>
            <a:ext cx="1175100" cy="329100"/>
          </a:xfrm>
          <a:prstGeom prst="roundRect">
            <a:avLst>
              <a:gd fmla="val 50000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6517429" y="4846320"/>
            <a:ext cx="11751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300"/>
              <a:buFont typeface="Poppins"/>
              <a:buNone/>
            </a:pPr>
            <a:r>
              <a:rPr b="1" lang="en-US" sz="1300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Bootstrap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" name="Google Shape;35;p3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3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" name="Google Shape;37;p3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3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3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INDICE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31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Cosa vedremo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48640" y="1691640"/>
            <a:ext cx="5394960" cy="1143000"/>
          </a:xfrm>
          <a:prstGeom prst="roundRect">
            <a:avLst>
              <a:gd fmla="val 104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804672" y="1965960"/>
            <a:ext cx="594360" cy="594360"/>
          </a:xfrm>
          <a:prstGeom prst="ellipse">
            <a:avLst/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a_box.png" id="50" name="Google Shape;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" y="21305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4"/>
          <p:cNvSpPr/>
          <p:nvPr/>
        </p:nvSpPr>
        <p:spPr>
          <a:xfrm>
            <a:off x="5029200" y="185623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F8F1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E7F8F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600200" y="1929384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Il problema e l'idea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600200" y="23317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250"/>
              <a:buFont typeface="Poppins"/>
              <a:buNone/>
            </a:pPr>
            <a:r>
              <a:rPr b="0" i="0" lang="en-US" sz="12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dal frigo disordinato al sistema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446520" y="1691640"/>
            <a:ext cx="5394960" cy="1143000"/>
          </a:xfrm>
          <a:prstGeom prst="roundRect">
            <a:avLst>
              <a:gd fmla="val 104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702552" y="1965960"/>
            <a:ext cx="594360" cy="594360"/>
          </a:xfrm>
          <a:prstGeom prst="ellipse">
            <a:avLst/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a_db.png" id="56" name="Google Shape;5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67144" y="213055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4"/>
          <p:cNvSpPr/>
          <p:nvPr/>
        </p:nvSpPr>
        <p:spPr>
          <a:xfrm>
            <a:off x="10927080" y="1856232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F8F1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E7F8F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498080" y="1929384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Il modello dei dati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7498080" y="23317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250"/>
              <a:buFont typeface="Poppins"/>
              <a:buNone/>
            </a:pPr>
            <a:r>
              <a:rPr b="0" i="0" lang="en-US" sz="12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entit</a:t>
            </a:r>
            <a:r>
              <a:rPr lang="en-US" sz="1250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à</a:t>
            </a:r>
            <a:r>
              <a:rPr b="0" i="0" lang="en-US" sz="12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, relazioni, schema E-R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548640" y="3090672"/>
            <a:ext cx="5394960" cy="1143000"/>
          </a:xfrm>
          <a:prstGeom prst="roundRect">
            <a:avLst>
              <a:gd fmla="val 104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804672" y="3364992"/>
            <a:ext cx="594360" cy="594360"/>
          </a:xfrm>
          <a:prstGeom prst="ellipse">
            <a:avLst/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a_sitemap.png" id="62" name="Google Shape;6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264" y="352958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4"/>
          <p:cNvSpPr/>
          <p:nvPr/>
        </p:nvSpPr>
        <p:spPr>
          <a:xfrm>
            <a:off x="5029200" y="3255264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F8F1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E7F8F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1600200" y="3328416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La gerarchia Owner/Member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1600200" y="37307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250"/>
              <a:buFont typeface="Poppins"/>
              <a:buNone/>
            </a:pPr>
            <a:r>
              <a:rPr b="0" i="0" lang="en-US" sz="12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analisi e traduzione logica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6446520" y="3090672"/>
            <a:ext cx="5394960" cy="1143000"/>
          </a:xfrm>
          <a:prstGeom prst="roundRect">
            <a:avLst>
              <a:gd fmla="val 104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6702552" y="3364992"/>
            <a:ext cx="594360" cy="594360"/>
          </a:xfrm>
          <a:prstGeom prst="ellipse">
            <a:avLst/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a_layer.png" id="68" name="Google Shape;6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67144" y="352958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4"/>
          <p:cNvSpPr/>
          <p:nvPr/>
        </p:nvSpPr>
        <p:spPr>
          <a:xfrm>
            <a:off x="10927080" y="3255264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F8F1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E7F8F1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7498080" y="3328416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Lo schema relazionale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7498080" y="3730752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250"/>
              <a:buFont typeface="Poppins"/>
              <a:buNone/>
            </a:pPr>
            <a:r>
              <a:rPr b="0" i="0" lang="en-US" sz="12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tabelle, chiavi e vincoli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48640" y="4489704"/>
            <a:ext cx="5394960" cy="1143000"/>
          </a:xfrm>
          <a:prstGeom prst="roundRect">
            <a:avLst>
              <a:gd fmla="val 104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804672" y="4764024"/>
            <a:ext cx="594360" cy="594360"/>
          </a:xfrm>
          <a:prstGeom prst="ellipse">
            <a:avLst/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a_code.png" id="74" name="Google Shape;7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9264" y="49286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4"/>
          <p:cNvSpPr/>
          <p:nvPr/>
        </p:nvSpPr>
        <p:spPr>
          <a:xfrm>
            <a:off x="5029200" y="4654296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F8F1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E7F8F1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60020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L'applicazione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600200" y="512978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250"/>
              <a:buFont typeface="Poppins"/>
              <a:buNone/>
            </a:pPr>
            <a:r>
              <a:rPr b="0" i="0" lang="en-US" sz="12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architettura, funzioni, schermate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6446520" y="4489704"/>
            <a:ext cx="5394960" cy="1143000"/>
          </a:xfrm>
          <a:prstGeom prst="roundRect">
            <a:avLst>
              <a:gd fmla="val 104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6702552" y="4764024"/>
            <a:ext cx="594360" cy="594360"/>
          </a:xfrm>
          <a:prstGeom prst="ellipse">
            <a:avLst/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a_shield.png" id="80" name="Google Shape;80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867144" y="49286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4"/>
          <p:cNvSpPr/>
          <p:nvPr/>
        </p:nvSpPr>
        <p:spPr>
          <a:xfrm>
            <a:off x="10927080" y="4654296"/>
            <a:ext cx="777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7F8F1"/>
              </a:buClr>
              <a:buSzPts val="2400"/>
              <a:buFont typeface="Poppins"/>
              <a:buNone/>
            </a:pPr>
            <a:r>
              <a:rPr b="1" i="0" lang="en-US" sz="2400" u="none" cap="none" strike="noStrike">
                <a:solidFill>
                  <a:srgbClr val="E7F8F1"/>
                </a:solidFill>
                <a:latin typeface="Poppins"/>
                <a:ea typeface="Poppins"/>
                <a:cs typeface="Poppins"/>
                <a:sym typeface="Poppins"/>
              </a:rPr>
              <a:t>06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7498080" y="472744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Sicurezza e conclusioni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7498080" y="5129784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250"/>
              <a:buFont typeface="Poppins"/>
              <a:buNone/>
            </a:pPr>
            <a:r>
              <a:rPr b="0" i="0" lang="en-US" sz="12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difese e bilancio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5" name="Google Shape;85;p4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4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" name="Google Shape;87;p4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4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4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CONTESTO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Il problema e l'idea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548640" y="1463040"/>
            <a:ext cx="5212080" cy="4206240"/>
          </a:xfrm>
          <a:prstGeom prst="roundRect">
            <a:avLst>
              <a:gd fmla="val 2826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868680" y="169164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33D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E0533D"/>
                </a:solidFill>
                <a:latin typeface="Poppins"/>
                <a:ea typeface="Poppins"/>
                <a:cs typeface="Poppins"/>
                <a:sym typeface="Poppins"/>
              </a:rPr>
              <a:t>LA SITUAZIONE DI PARTENZA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868680" y="2148840"/>
            <a:ext cx="4617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50"/>
              <a:buFont typeface="Poppins"/>
              <a:buChar char="–"/>
            </a:pPr>
            <a:r>
              <a:rPr b="0" i="0" lang="en-US" sz="14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Cibo dimenticato che scade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868680" y="2788920"/>
            <a:ext cx="4617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50"/>
              <a:buFont typeface="Poppins"/>
              <a:buChar char="–"/>
            </a:pPr>
            <a:r>
              <a:rPr b="0" i="0" lang="en-US" sz="14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Spesa duplicata e sprechi alimentari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868680" y="3429000"/>
            <a:ext cx="4617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50"/>
              <a:buFont typeface="Poppins"/>
              <a:buChar char="–"/>
            </a:pPr>
            <a:r>
              <a:rPr b="0" i="0" lang="en-US" sz="14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Nessuna vista di cosa si ha in casa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68680" y="4069080"/>
            <a:ext cx="4617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50"/>
              <a:buFont typeface="Poppins"/>
              <a:buChar char="–"/>
            </a:pPr>
            <a:r>
              <a:rPr b="0" i="0" lang="en-US" sz="14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Frigo condiviso (famiglia, coinquilini) senza coordinamento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6080760" y="1463040"/>
            <a:ext cx="5559552" cy="4206240"/>
          </a:xfrm>
          <a:prstGeom prst="roundRect">
            <a:avLst>
              <a:gd fmla="val 2826" name="adj"/>
            </a:avLst>
          </a:prstGeom>
          <a:solidFill>
            <a:srgbClr val="FFFFFF"/>
          </a:solidFill>
          <a:ln cap="flat" cmpd="sng" w="25400">
            <a:solidFill>
              <a:srgbClr val="0FB37A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38100">
              <a:srgbClr val="10241C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6400800" y="1737360"/>
            <a:ext cx="548640" cy="548640"/>
          </a:xfrm>
          <a:prstGeom prst="ellipse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snow.png"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47104" y="188366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5"/>
          <p:cNvSpPr/>
          <p:nvPr/>
        </p:nvSpPr>
        <p:spPr>
          <a:xfrm>
            <a:off x="7086600" y="1801368"/>
            <a:ext cx="4572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LA SOLUZIONE: FRIDGE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6446520" y="2423160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Char char="•"/>
            </a:pPr>
            <a:r>
              <a:rPr b="0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Ogni alimento tracciato con quantit</a:t>
            </a:r>
            <a:r>
              <a:rPr lang="en-US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à </a:t>
            </a:r>
            <a:r>
              <a:rPr b="0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e scadenza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446520" y="3044952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Char char="•"/>
            </a:pPr>
            <a:r>
              <a:rPr b="0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Stato automatico: disponibile / consumato / scaduto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6446520" y="3666744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Char char="•"/>
            </a:pPr>
            <a:r>
              <a:rPr b="0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Avvisi sui prodotti in scadenza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6446520" y="4288536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Char char="•"/>
            </a:pPr>
            <a:r>
              <a:rPr b="0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Frigoriferi condivisibili con ruoli differenziati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6446520" y="4910328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Char char="•"/>
            </a:pPr>
            <a:r>
              <a:rPr b="0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Suggerimento ricette in base a </a:t>
            </a:r>
            <a:r>
              <a:rPr lang="en-US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ciò</a:t>
            </a:r>
            <a:r>
              <a:rPr b="0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' che hai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" name="Google Shape;114;p5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5" name="Google Shape;115;p5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6" name="Google Shape;116;p5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5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5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PROGETTAZIONE CONCETTUALE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Le entit</a:t>
            </a:r>
            <a:r>
              <a:rPr b="1" lang="en-US" sz="2800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à</a:t>
            </a: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 del dominio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548640" y="1554480"/>
            <a:ext cx="2670048" cy="1417320"/>
          </a:xfrm>
          <a:prstGeom prst="roundRect">
            <a:avLst>
              <a:gd fmla="val 7097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749808" y="1773936"/>
            <a:ext cx="411480" cy="411480"/>
          </a:xfrm>
          <a:prstGeom prst="roundRect">
            <a:avLst>
              <a:gd fmla="val 17778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749808" y="17739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U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1280160" y="1792224"/>
            <a:ext cx="18470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Utente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768096" y="2304288"/>
            <a:ext cx="2258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chi accede con credenziali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3401568" y="1554480"/>
            <a:ext cx="2670048" cy="1417320"/>
          </a:xfrm>
          <a:prstGeom prst="roundRect">
            <a:avLst>
              <a:gd fmla="val 7097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"/>
          <p:cNvSpPr/>
          <p:nvPr/>
        </p:nvSpPr>
        <p:spPr>
          <a:xfrm>
            <a:off x="3602736" y="1773936"/>
            <a:ext cx="411480" cy="411480"/>
          </a:xfrm>
          <a:prstGeom prst="roundRect">
            <a:avLst>
              <a:gd fmla="val 17778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3602736" y="17739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4133088" y="1792224"/>
            <a:ext cx="18470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Frigorifero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3621024" y="2304288"/>
            <a:ext cx="2258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contenitore condivisibile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6254496" y="1554480"/>
            <a:ext cx="2670048" cy="1417320"/>
          </a:xfrm>
          <a:prstGeom prst="roundRect">
            <a:avLst>
              <a:gd fmla="val 7097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6455664" y="1773936"/>
            <a:ext cx="411480" cy="411480"/>
          </a:xfrm>
          <a:prstGeom prst="roundRect">
            <a:avLst>
              <a:gd fmla="val 17778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6455664" y="17739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6986016" y="1792224"/>
            <a:ext cx="18470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Prodotto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6473952" y="2304288"/>
            <a:ext cx="2258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anagrafica di un alimento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9107424" y="1554480"/>
            <a:ext cx="2670048" cy="1417320"/>
          </a:xfrm>
          <a:prstGeom prst="roundRect">
            <a:avLst>
              <a:gd fmla="val 7097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9308592" y="1773936"/>
            <a:ext cx="411480" cy="411480"/>
          </a:xfrm>
          <a:prstGeom prst="roundRect">
            <a:avLst>
              <a:gd fmla="val 17778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9308592" y="1773936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9838944" y="1792224"/>
            <a:ext cx="18470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FridgeItem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9326880" y="2304288"/>
            <a:ext cx="2258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il prodotto presente nel frigo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548640" y="3172968"/>
            <a:ext cx="2670048" cy="1417320"/>
          </a:xfrm>
          <a:prstGeom prst="roundRect">
            <a:avLst>
              <a:gd fmla="val 7097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749808" y="3392424"/>
            <a:ext cx="411480" cy="411480"/>
          </a:xfrm>
          <a:prstGeom prst="roundRect">
            <a:avLst>
              <a:gd fmla="val 17778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749808" y="339242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280160" y="3410712"/>
            <a:ext cx="18470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Categoria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768096" y="3922776"/>
            <a:ext cx="2258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classificazione tematica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401568" y="3172968"/>
            <a:ext cx="2670048" cy="1417320"/>
          </a:xfrm>
          <a:prstGeom prst="roundRect">
            <a:avLst>
              <a:gd fmla="val 7097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3602736" y="3392424"/>
            <a:ext cx="411480" cy="411480"/>
          </a:xfrm>
          <a:prstGeom prst="roundRect">
            <a:avLst>
              <a:gd fmla="val 17778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3602736" y="339242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4133088" y="3410712"/>
            <a:ext cx="18470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Ricetta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621024" y="3922776"/>
            <a:ext cx="2258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preparazione + ingredienti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254496" y="3172968"/>
            <a:ext cx="2670048" cy="1417320"/>
          </a:xfrm>
          <a:prstGeom prst="roundRect">
            <a:avLst>
              <a:gd fmla="val 7097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6455664" y="3392424"/>
            <a:ext cx="411480" cy="411480"/>
          </a:xfrm>
          <a:prstGeom prst="roundRect">
            <a:avLst>
              <a:gd fmla="val 17778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6455664" y="339242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6986016" y="3410712"/>
            <a:ext cx="18470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Notifica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6473952" y="3922776"/>
            <a:ext cx="2258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avviso del sistema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9107424" y="3172968"/>
            <a:ext cx="2670048" cy="1417320"/>
          </a:xfrm>
          <a:prstGeom prst="roundRect">
            <a:avLst>
              <a:gd fmla="val 7097" name="adj"/>
            </a:avLst>
          </a:prstGeom>
          <a:solidFill>
            <a:srgbClr val="E7F8F1"/>
          </a:solidFill>
          <a:ln cap="flat" cmpd="sng" w="25400">
            <a:solidFill>
              <a:srgbClr val="0FB3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9308592" y="3392424"/>
            <a:ext cx="411480" cy="411480"/>
          </a:xfrm>
          <a:prstGeom prst="roundRect">
            <a:avLst>
              <a:gd fmla="val 17778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9308592" y="3392424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9838944" y="3410712"/>
            <a:ext cx="184708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Condivisione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9326880" y="3922776"/>
            <a:ext cx="225856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utente + frigo + ruolo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8" name="Google Shape;168;p6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6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" name="Google Shape;170;p6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6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2" name="Google Shape;172;p6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7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PROGETTAZIONE CONCETTUALE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Lo schema Entit</a:t>
            </a:r>
            <a:r>
              <a:rPr b="1" lang="en-US" sz="2800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à</a:t>
            </a: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-Relazione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1158096" y="1554475"/>
            <a:ext cx="6810900" cy="5120700"/>
          </a:xfrm>
          <a:prstGeom prst="roundRect">
            <a:avLst>
              <a:gd fmla="val 26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er_app.png" id="182" name="Google Shape;1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245" y="1691652"/>
            <a:ext cx="6383315" cy="49834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7"/>
          <p:cNvSpPr/>
          <p:nvPr/>
        </p:nvSpPr>
        <p:spPr>
          <a:xfrm>
            <a:off x="8781051" y="1783080"/>
            <a:ext cx="3108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LEGENDA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8781051" y="2386613"/>
            <a:ext cx="255900" cy="255900"/>
          </a:xfrm>
          <a:prstGeom prst="roundRect">
            <a:avLst>
              <a:gd fmla="val 17857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9165099" y="2267712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Entità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8781051" y="2889533"/>
            <a:ext cx="255900" cy="255900"/>
          </a:xfrm>
          <a:prstGeom prst="roundRect">
            <a:avLst>
              <a:gd fmla="val 17857" name="adj"/>
            </a:avLst>
          </a:prstGeom>
          <a:solidFill>
            <a:srgbClr val="5B7C7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7"/>
          <p:cNvSpPr/>
          <p:nvPr/>
        </p:nvSpPr>
        <p:spPr>
          <a:xfrm>
            <a:off x="9165099" y="2770632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Relazione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8781051" y="3392453"/>
            <a:ext cx="255900" cy="255900"/>
          </a:xfrm>
          <a:prstGeom prst="roundRect">
            <a:avLst>
              <a:gd fmla="val 17857" name="adj"/>
            </a:avLst>
          </a:prstGeom>
          <a:solidFill>
            <a:srgbClr val="E0A1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9165099" y="3273552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Gerarchia (ISA)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1489078" y="566922"/>
            <a:ext cx="199800" cy="255900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1" name="Google Shape;191;p7"/>
          <p:cNvCxnSpPr/>
          <p:nvPr/>
        </p:nvCxnSpPr>
        <p:spPr>
          <a:xfrm>
            <a:off x="11489078" y="674455"/>
            <a:ext cx="199800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2" name="Google Shape;192;p7"/>
          <p:cNvSpPr/>
          <p:nvPr/>
        </p:nvSpPr>
        <p:spPr>
          <a:xfrm>
            <a:off x="11521031" y="597646"/>
            <a:ext cx="26100" cy="46200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3" name="Google Shape;193;p7"/>
          <p:cNvCxnSpPr/>
          <p:nvPr/>
        </p:nvCxnSpPr>
        <p:spPr>
          <a:xfrm>
            <a:off x="11588930" y="700059"/>
            <a:ext cx="0" cy="8190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7"/>
          <p:cNvCxnSpPr/>
          <p:nvPr/>
        </p:nvCxnSpPr>
        <p:spPr>
          <a:xfrm>
            <a:off x="11547965" y="716445"/>
            <a:ext cx="81900" cy="4920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7"/>
          <p:cNvCxnSpPr/>
          <p:nvPr/>
        </p:nvCxnSpPr>
        <p:spPr>
          <a:xfrm flipH="1" rot="10800000">
            <a:off x="11547965" y="716403"/>
            <a:ext cx="81900" cy="4920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LA SCELTA CHIAVE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Generalizzazione: Owner e Member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548640" y="1554480"/>
            <a:ext cx="5760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500"/>
              <a:buFont typeface="Poppins"/>
              <a:buNone/>
            </a:pPr>
            <a:r>
              <a:rPr b="0" i="0" lang="en-US" sz="15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Un utente si comporta in due modi rispetto a un frigorifero: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548640" y="2148840"/>
            <a:ext cx="5669280" cy="11887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8"/>
          <p:cNvSpPr/>
          <p:nvPr/>
        </p:nvSpPr>
        <p:spPr>
          <a:xfrm>
            <a:off x="777240" y="2404872"/>
            <a:ext cx="676656" cy="676656"/>
          </a:xfrm>
          <a:prstGeom prst="roundRect">
            <a:avLst>
              <a:gd fmla="val 18919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"/>
          <p:cNvSpPr/>
          <p:nvPr/>
        </p:nvSpPr>
        <p:spPr>
          <a:xfrm>
            <a:off x="777240" y="2404872"/>
            <a:ext cx="67665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1600200" y="233172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Owner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1600200" y="2770632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Crea il frigo, invita membri, gestisce i permessi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548640" y="3520440"/>
            <a:ext cx="5669280" cy="11887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"/>
          <p:cNvSpPr/>
          <p:nvPr/>
        </p:nvSpPr>
        <p:spPr>
          <a:xfrm>
            <a:off x="777240" y="3776472"/>
            <a:ext cx="676656" cy="676656"/>
          </a:xfrm>
          <a:prstGeom prst="roundRect">
            <a:avLst>
              <a:gd fmla="val 18919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777240" y="3776472"/>
            <a:ext cx="676656" cy="67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1600200" y="370332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Member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1600200" y="4142232"/>
            <a:ext cx="4434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200"/>
              <a:buFont typeface="Poppins"/>
              <a:buNone/>
            </a:pPr>
            <a:r>
              <a:rPr b="0" i="0" lang="en-US" sz="120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Consulta i prodotti, aggiorna </a:t>
            </a:r>
            <a:r>
              <a:rPr lang="en-US" sz="1200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quantità</a:t>
            </a:r>
            <a:r>
              <a:rPr b="0" i="0" lang="en-US" sz="120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, vede scadenze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8046720" y="1920240"/>
            <a:ext cx="2560320" cy="713232"/>
          </a:xfrm>
          <a:prstGeom prst="roundRect">
            <a:avLst>
              <a:gd fmla="val 15385" name="adj"/>
            </a:avLst>
          </a:prstGeom>
          <a:solidFill>
            <a:srgbClr val="E7F8F1"/>
          </a:solidFill>
          <a:ln cap="flat" cmpd="sng" w="19050">
            <a:solidFill>
              <a:srgbClr val="0FB3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8"/>
          <p:cNvSpPr/>
          <p:nvPr/>
        </p:nvSpPr>
        <p:spPr>
          <a:xfrm>
            <a:off x="8046720" y="1920240"/>
            <a:ext cx="256032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700"/>
              <a:buFont typeface="Poppins"/>
              <a:buNone/>
            </a:pPr>
            <a:r>
              <a:rPr b="1" i="0" lang="en-US" sz="17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UTENTE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8869680" y="2926080"/>
            <a:ext cx="914400" cy="585216"/>
          </a:xfrm>
          <a:prstGeom prst="ellipse">
            <a:avLst/>
          </a:prstGeom>
          <a:solidFill>
            <a:srgbClr val="FFF6E0"/>
          </a:solidFill>
          <a:ln cap="flat" cmpd="sng" w="19050">
            <a:solidFill>
              <a:srgbClr val="E0A1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8869680" y="2926080"/>
            <a:ext cx="91440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A00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7A5A00"/>
                </a:solidFill>
                <a:latin typeface="Poppins"/>
                <a:ea typeface="Poppins"/>
                <a:cs typeface="Poppins"/>
                <a:sym typeface="Poppins"/>
              </a:rPr>
              <a:t>ISA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8"/>
          <p:cNvCxnSpPr/>
          <p:nvPr/>
        </p:nvCxnSpPr>
        <p:spPr>
          <a:xfrm>
            <a:off x="9326880" y="2633472"/>
            <a:ext cx="0" cy="292608"/>
          </a:xfrm>
          <a:prstGeom prst="straightConnector1">
            <a:avLst/>
          </a:prstGeom>
          <a:noFill/>
          <a:ln cap="flat" cmpd="sng" w="25400">
            <a:solidFill>
              <a:srgbClr val="E0A1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8"/>
          <p:cNvCxnSpPr/>
          <p:nvPr/>
        </p:nvCxnSpPr>
        <p:spPr>
          <a:xfrm>
            <a:off x="8366760" y="3511296"/>
            <a:ext cx="960120" cy="566928"/>
          </a:xfrm>
          <a:prstGeom prst="straightConnector1">
            <a:avLst/>
          </a:prstGeom>
          <a:noFill/>
          <a:ln cap="flat" cmpd="sng" w="25400">
            <a:solidFill>
              <a:srgbClr val="E0A1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8"/>
          <p:cNvCxnSpPr/>
          <p:nvPr/>
        </p:nvCxnSpPr>
        <p:spPr>
          <a:xfrm>
            <a:off x="9326880" y="3511296"/>
            <a:ext cx="960120" cy="566928"/>
          </a:xfrm>
          <a:prstGeom prst="straightConnector1">
            <a:avLst/>
          </a:prstGeom>
          <a:noFill/>
          <a:ln cap="flat" cmpd="sng" w="25400">
            <a:solidFill>
              <a:srgbClr val="E0A1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2" name="Google Shape;222;p8"/>
          <p:cNvSpPr/>
          <p:nvPr/>
        </p:nvSpPr>
        <p:spPr>
          <a:xfrm>
            <a:off x="7452360" y="4114800"/>
            <a:ext cx="1737360" cy="658368"/>
          </a:xfrm>
          <a:prstGeom prst="roundRect">
            <a:avLst>
              <a:gd fmla="val 13889" name="adj"/>
            </a:avLst>
          </a:prstGeom>
          <a:solidFill>
            <a:srgbClr val="D6F1E6"/>
          </a:solidFill>
          <a:ln cap="flat" cmpd="sng" w="19050">
            <a:solidFill>
              <a:srgbClr val="0FB3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7452360" y="411480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OWNER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9464040" y="4114800"/>
            <a:ext cx="1737360" cy="658368"/>
          </a:xfrm>
          <a:prstGeom prst="roundRect">
            <a:avLst>
              <a:gd fmla="val 13889" name="adj"/>
            </a:avLst>
          </a:prstGeom>
          <a:solidFill>
            <a:srgbClr val="D6F1E6"/>
          </a:solidFill>
          <a:ln cap="flat" cmpd="sng" w="19050">
            <a:solidFill>
              <a:srgbClr val="0FB3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9464040" y="4114800"/>
            <a:ext cx="1737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MEMBER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7" name="Google Shape;227;p8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8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9" name="Google Shape;229;p8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8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8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LA SCELTA CHIAVE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I vincoli: parziale e sovrapposta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548640" y="1554480"/>
            <a:ext cx="5394960" cy="1874520"/>
          </a:xfrm>
          <a:prstGeom prst="roundRect">
            <a:avLst>
              <a:gd fmla="val 6341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"/>
          <p:cNvSpPr/>
          <p:nvPr/>
        </p:nvSpPr>
        <p:spPr>
          <a:xfrm>
            <a:off x="868680" y="1810512"/>
            <a:ext cx="1078992" cy="329184"/>
          </a:xfrm>
          <a:prstGeom prst="roundRect">
            <a:avLst>
              <a:gd fmla="val 50000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"/>
          <p:cNvSpPr/>
          <p:nvPr/>
        </p:nvSpPr>
        <p:spPr>
          <a:xfrm>
            <a:off x="868680" y="1810512"/>
            <a:ext cx="107899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PARZIALE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868680" y="23317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700"/>
              <a:buFont typeface="Poppins"/>
              <a:buNone/>
            </a:pPr>
            <a:r>
              <a:rPr b="1" lang="en-US" sz="1700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Può</a:t>
            </a:r>
            <a:r>
              <a:rPr b="1" i="0" lang="en-US" sz="17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 non avere ruolo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868680" y="274320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Un utente appena registrato, che non ha creato ne' ricevuto un frigo, non </a:t>
            </a:r>
            <a:r>
              <a:rPr lang="en-US" sz="1300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è</a:t>
            </a:r>
            <a:r>
              <a:rPr b="0" i="0" lang="en-US" sz="130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 ne' Owner ne' Member.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217920" y="1554480"/>
            <a:ext cx="5394960" cy="1874520"/>
          </a:xfrm>
          <a:prstGeom prst="roundRect">
            <a:avLst>
              <a:gd fmla="val 6341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6537960" y="1810512"/>
            <a:ext cx="1367028" cy="329184"/>
          </a:xfrm>
          <a:prstGeom prst="roundRect">
            <a:avLst>
              <a:gd fmla="val 50000" name="adj"/>
            </a:avLst>
          </a:prstGeom>
          <a:solidFill>
            <a:srgbClr val="FFF6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6537960" y="1810512"/>
            <a:ext cx="13670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5A00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7A5A00"/>
                </a:solidFill>
                <a:latin typeface="Poppins"/>
                <a:ea typeface="Poppins"/>
                <a:cs typeface="Poppins"/>
                <a:sym typeface="Poppins"/>
              </a:rPr>
              <a:t>SOVRAPPOSTA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537960" y="233172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700"/>
              <a:buFont typeface="Poppins"/>
              <a:buNone/>
            </a:pPr>
            <a:r>
              <a:rPr b="1" lang="en-US" sz="1700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Può</a:t>
            </a:r>
            <a:r>
              <a:rPr b="1" i="0" lang="en-US" sz="17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 avere due ruoli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537960" y="274320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Lo stesso utente </a:t>
            </a:r>
            <a:r>
              <a:rPr lang="en-US" sz="1300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può</a:t>
            </a:r>
            <a:r>
              <a:rPr b="0" i="0" lang="en-US" sz="130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 essere Owner di un frigo e contemporaneamente Member di un altro.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548640" y="3703320"/>
            <a:ext cx="11091672" cy="1828800"/>
          </a:xfrm>
          <a:prstGeom prst="roundRect">
            <a:avLst>
              <a:gd fmla="val 7000" name="adj"/>
            </a:avLst>
          </a:prstGeom>
          <a:solidFill>
            <a:srgbClr val="0FB37A"/>
          </a:solidFill>
          <a:ln>
            <a:noFill/>
          </a:ln>
          <a:effectLst>
            <a:outerShdw blurRad="127000" rotWithShape="0" algn="bl" dir="5400000" dist="38100">
              <a:srgbClr val="10241C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960120" y="397764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F5EB"/>
              </a:buClr>
              <a:buSzPts val="1250"/>
              <a:buFont typeface="Poppins"/>
              <a:buNone/>
            </a:pPr>
            <a:r>
              <a:rPr b="1" i="0" lang="en-US" sz="1250" u="none" cap="none" strike="noStrike">
                <a:solidFill>
                  <a:srgbClr val="DCF5EB"/>
                </a:solidFill>
                <a:latin typeface="Poppins"/>
                <a:ea typeface="Poppins"/>
                <a:cs typeface="Poppins"/>
                <a:sym typeface="Poppins"/>
              </a:rPr>
              <a:t>L'INTUIZIONE CHE GUIDA IL PROGETTO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960120" y="4370832"/>
            <a:ext cx="10241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AFBF4"/>
              </a:buClr>
              <a:buSzPts val="2000"/>
              <a:buFont typeface="Poppins"/>
              <a:buNone/>
            </a:pPr>
            <a:r>
              <a:rPr b="0" i="0" lang="en-US" sz="2000" u="none" cap="none" strike="noStrike">
                <a:solidFill>
                  <a:srgbClr val="EAFBF4"/>
                </a:solidFill>
                <a:latin typeface="Poppins"/>
                <a:ea typeface="Poppins"/>
                <a:cs typeface="Poppins"/>
                <a:sym typeface="Poppins"/>
              </a:rPr>
              <a:t>Il ruolo non </a:t>
            </a:r>
            <a:r>
              <a:rPr lang="en-US" sz="2000">
                <a:solidFill>
                  <a:srgbClr val="EAFBF4"/>
                </a:solidFill>
                <a:latin typeface="Poppins"/>
                <a:ea typeface="Poppins"/>
                <a:cs typeface="Poppins"/>
                <a:sym typeface="Poppins"/>
              </a:rPr>
              <a:t>è</a:t>
            </a:r>
            <a:r>
              <a:rPr b="0" i="0" lang="en-US" sz="2000" u="none" cap="none" strike="noStrike">
                <a:solidFill>
                  <a:srgbClr val="EAFBF4"/>
                </a:solidFill>
                <a:latin typeface="Poppins"/>
                <a:ea typeface="Poppins"/>
                <a:cs typeface="Poppins"/>
                <a:sym typeface="Poppins"/>
              </a:rPr>
              <a:t> una </a:t>
            </a:r>
            <a:r>
              <a:rPr lang="en-US" sz="2000">
                <a:solidFill>
                  <a:srgbClr val="EAFBF4"/>
                </a:solidFill>
                <a:latin typeface="Poppins"/>
                <a:ea typeface="Poppins"/>
                <a:cs typeface="Poppins"/>
                <a:sym typeface="Poppins"/>
              </a:rPr>
              <a:t>proprietà</a:t>
            </a:r>
            <a:r>
              <a:rPr b="0" i="0" lang="en-US" sz="2000" u="none" cap="none" strike="noStrike">
                <a:solidFill>
                  <a:srgbClr val="EAFBF4"/>
                </a:solidFill>
                <a:latin typeface="Poppins"/>
                <a:ea typeface="Poppins"/>
                <a:cs typeface="Poppins"/>
                <a:sym typeface="Poppins"/>
              </a:rPr>
              <a:t> dell'utente, ma </a:t>
            </a:r>
            <a:r>
              <a:rPr b="1" i="0" lang="en-US" sz="2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della relazione tra utente e frigorifero.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4" name="Google Shape;254;p9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9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p9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9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9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PROGETTAZIONE LOGICA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Come tradurre la gerarchia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548640" y="1600200"/>
            <a:ext cx="3566160" cy="192024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777240" y="173736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D4CD"/>
              </a:buClr>
              <a:buSzPts val="3400"/>
              <a:buFont typeface="Poppins"/>
              <a:buNone/>
            </a:pPr>
            <a:r>
              <a:rPr b="1" i="0" lang="en-US" sz="3400" u="none" cap="none" strike="noStrike">
                <a:solidFill>
                  <a:srgbClr val="C2D4C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1508760" y="1810512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1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Tabella unica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795528" y="2514600"/>
            <a:ext cx="3154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Un campo 'tipo' in un'unica tabella. Genera NULL e non regge il caso sovrapposto.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4297680" y="1600200"/>
            <a:ext cx="3566160" cy="192024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4526280" y="173736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2D4CD"/>
              </a:buClr>
              <a:buSzPts val="3400"/>
              <a:buFont typeface="Poppins"/>
              <a:buNone/>
            </a:pPr>
            <a:r>
              <a:rPr b="1" i="0" lang="en-US" sz="3400" u="none" cap="none" strike="noStrike">
                <a:solidFill>
                  <a:srgbClr val="C2D4CD"/>
                </a:solidFill>
                <a:latin typeface="Poppins"/>
                <a:ea typeface="Poppins"/>
                <a:cs typeface="Poppins"/>
                <a:sym typeface="Poppins"/>
              </a:rPr>
              <a:t>B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257800" y="1810512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1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Tabella per figlia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4544568" y="2514600"/>
            <a:ext cx="3154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Una tabella per Owner e una per Member. Duplica attributi; richiede copertura totale.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8046720" y="1600200"/>
            <a:ext cx="3566160" cy="1920240"/>
          </a:xfrm>
          <a:prstGeom prst="roundRect">
            <a:avLst>
              <a:gd fmla="val 5714" name="adj"/>
            </a:avLst>
          </a:prstGeom>
          <a:solidFill>
            <a:srgbClr val="E7F8F1"/>
          </a:solidFill>
          <a:ln cap="flat" cmpd="sng" w="25400">
            <a:solidFill>
              <a:srgbClr val="0FB3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8275320" y="1737360"/>
            <a:ext cx="731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B37A"/>
              </a:buClr>
              <a:buSzPts val="3400"/>
              <a:buFont typeface="Poppins"/>
              <a:buNone/>
            </a:pPr>
            <a:r>
              <a:rPr b="1" i="0" lang="en-US" sz="3400" u="none" cap="none" strike="noStrike">
                <a:solidFill>
                  <a:srgbClr val="0FB37A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9006840" y="1810512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1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Sostituzione con relazione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8293608" y="2514600"/>
            <a:ext cx="315468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0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Relazione Condivisione(utente, frigo, ruolo). Gestisce parziale e sovrapposta.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10424160" y="1389888"/>
            <a:ext cx="886968" cy="329184"/>
          </a:xfrm>
          <a:prstGeom prst="roundRect">
            <a:avLst>
              <a:gd fmla="val 50000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"/>
          <p:cNvSpPr/>
          <p:nvPr/>
        </p:nvSpPr>
        <p:spPr>
          <a:xfrm>
            <a:off x="10424160" y="1389888"/>
            <a:ext cx="886968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SCELTA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548640" y="3749040"/>
            <a:ext cx="11091672" cy="18288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"/>
          <p:cNvSpPr/>
          <p:nvPr/>
        </p:nvSpPr>
        <p:spPr>
          <a:xfrm>
            <a:off x="868680" y="395020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PERCHE' LA STRATEGIA 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868680" y="429768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None/>
            </a:pPr>
            <a:r>
              <a:rPr b="0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Le tecniche A e B sono pensate per gerarchie disgiunte. </a:t>
            </a:r>
            <a:r>
              <a:rPr lang="en-US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In Fridge Manager è </a:t>
            </a:r>
            <a:r>
              <a:rPr b="0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sovrapposta e il ruolo dipende dal frigorifero: la relazione </a:t>
            </a:r>
            <a:r>
              <a:rPr lang="en-US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è </a:t>
            </a:r>
            <a:r>
              <a:rPr b="0" i="0" lang="en-US" sz="1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 il posto naturale del ruolo. La C mantiene lo schema normalizzato, evita NULL e duplicazioni e realizza direttamente la condivisione del frigo.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5" name="Google Shape;285;p10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10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7" name="Google Shape;287;p10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10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9" name="Google Shape;289;p10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1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1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PROGETTAZIONE LOGICA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La tabella che risolve la gerarchia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548640" y="1572768"/>
            <a:ext cx="11091672" cy="1371600"/>
          </a:xfrm>
          <a:prstGeom prst="roundRect">
            <a:avLst>
              <a:gd fmla="val 8667" name="adj"/>
            </a:avLst>
          </a:prstGeom>
          <a:solidFill>
            <a:srgbClr val="E7F8F1"/>
          </a:solidFill>
          <a:ln cap="flat" cmpd="sng" w="19050">
            <a:solidFill>
              <a:srgbClr val="0FB3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1"/>
          <p:cNvSpPr/>
          <p:nvPr/>
        </p:nvSpPr>
        <p:spPr>
          <a:xfrm>
            <a:off x="868680" y="17556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LA RELAZIONE ASSOCIATIVA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868680" y="2075688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0A8F61"/>
                </a:solidFill>
                <a:latin typeface="Courier New"/>
                <a:ea typeface="Courier New"/>
                <a:cs typeface="Courier New"/>
                <a:sym typeface="Courier New"/>
              </a:rPr>
              <a:t>Condivisione ( utente_id FK,  frigorifero_id FK,  ruolo,  data_aggiunta 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548640" y="3154680"/>
            <a:ext cx="5394960" cy="868680"/>
          </a:xfrm>
          <a:prstGeom prst="roundRect">
            <a:avLst>
              <a:gd fmla="val 13684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1"/>
          <p:cNvSpPr/>
          <p:nvPr/>
        </p:nvSpPr>
        <p:spPr>
          <a:xfrm>
            <a:off x="822960" y="3401568"/>
            <a:ext cx="384048" cy="384048"/>
          </a:xfrm>
          <a:prstGeom prst="ellipse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check.png" id="303" name="Google Shape;30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544" y="35021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11"/>
          <p:cNvSpPr/>
          <p:nvPr/>
        </p:nvSpPr>
        <p:spPr>
          <a:xfrm>
            <a:off x="1417320" y="3154680"/>
            <a:ext cx="4389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Nessun valore NULL, schema normalizzato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6245352" y="3154680"/>
            <a:ext cx="5394960" cy="868680"/>
          </a:xfrm>
          <a:prstGeom prst="roundRect">
            <a:avLst>
              <a:gd fmla="val 13684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"/>
          <p:cNvSpPr/>
          <p:nvPr/>
        </p:nvSpPr>
        <p:spPr>
          <a:xfrm>
            <a:off x="6519672" y="3401568"/>
            <a:ext cx="384048" cy="384048"/>
          </a:xfrm>
          <a:prstGeom prst="ellipse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check.png" id="307" name="Google Shape;3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0256" y="35021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7114032" y="3154680"/>
            <a:ext cx="4389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Ruoli diversi su frigoriferi diversi (sovrapposta)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48640" y="4251960"/>
            <a:ext cx="5394960" cy="868680"/>
          </a:xfrm>
          <a:prstGeom prst="roundRect">
            <a:avLst>
              <a:gd fmla="val 13684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822960" y="4498848"/>
            <a:ext cx="384048" cy="384048"/>
          </a:xfrm>
          <a:prstGeom prst="ellipse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check.png" id="311" name="Google Shape;31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544" y="459943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1"/>
          <p:cNvSpPr/>
          <p:nvPr/>
        </p:nvSpPr>
        <p:spPr>
          <a:xfrm>
            <a:off x="1417320" y="4251960"/>
            <a:ext cx="4389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Un utente puo' non avere ruolo (parziale)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1"/>
          <p:cNvSpPr/>
          <p:nvPr/>
        </p:nvSpPr>
        <p:spPr>
          <a:xfrm>
            <a:off x="6245352" y="4251960"/>
            <a:ext cx="5394960" cy="868680"/>
          </a:xfrm>
          <a:prstGeom prst="roundRect">
            <a:avLst>
              <a:gd fmla="val 13684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6519672" y="4498848"/>
            <a:ext cx="384048" cy="384048"/>
          </a:xfrm>
          <a:prstGeom prst="ellipse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check.png" id="315" name="Google Shape;31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0256" y="459943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1"/>
          <p:cNvSpPr/>
          <p:nvPr/>
        </p:nvSpPr>
        <p:spPr>
          <a:xfrm>
            <a:off x="7114032" y="4251960"/>
            <a:ext cx="43891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Realizza direttamente la condivisione del frigo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8" name="Google Shape;318;p11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9" name="Google Shape;319;p11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0" name="Google Shape;320;p11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11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11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2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PROGETTAZIONE LOGICA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Lo schema relazionale finale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548640" y="1554480"/>
            <a:ext cx="11091672" cy="4023360"/>
          </a:xfrm>
          <a:prstGeom prst="roundRect">
            <a:avLst>
              <a:gd fmla="val 2955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2"/>
          <p:cNvSpPr/>
          <p:nvPr/>
        </p:nvSpPr>
        <p:spPr>
          <a:xfrm>
            <a:off x="914400" y="1828800"/>
            <a:ext cx="10332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Courier New"/>
                <a:ea typeface="Courier New"/>
                <a:cs typeface="Courier New"/>
                <a:sym typeface="Courier New"/>
              </a:rPr>
              <a:t>Utente(id PK, username, email U, password)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Courier New"/>
                <a:ea typeface="Courier New"/>
                <a:cs typeface="Courier New"/>
                <a:sym typeface="Courier New"/>
              </a:rPr>
              <a:t>Frigorifero(id PK, nome, data_creazione)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A8F61"/>
                </a:solidFill>
                <a:latin typeface="Courier New"/>
                <a:ea typeface="Courier New"/>
                <a:cs typeface="Courier New"/>
                <a:sym typeface="Courier New"/>
              </a:rPr>
              <a:t>Condivisione(utente_id FK, frigorifero_id FK, ruolo, data_aggiunta)   PK=(utente_id,</a:t>
            </a:r>
            <a:r>
              <a:rPr lang="en-US" sz="1350">
                <a:solidFill>
                  <a:srgbClr val="0A8F6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350" u="none" cap="none" strike="noStrike">
                <a:solidFill>
                  <a:srgbClr val="0A8F61"/>
                </a:solidFill>
                <a:latin typeface="Courier New"/>
                <a:ea typeface="Courier New"/>
                <a:cs typeface="Courier New"/>
                <a:sym typeface="Courier New"/>
              </a:rPr>
              <a:t>frigorifero_id)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Courier New"/>
                <a:ea typeface="Courier New"/>
                <a:cs typeface="Courier New"/>
                <a:sym typeface="Courier New"/>
              </a:rPr>
              <a:t>Categoria(id PK, nome)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Courier New"/>
                <a:ea typeface="Courier New"/>
                <a:cs typeface="Courier New"/>
                <a:sym typeface="Courier New"/>
              </a:rPr>
              <a:t>Prodotto(id PK, nome, categoria_id FK)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Courier New"/>
                <a:ea typeface="Courier New"/>
                <a:cs typeface="Courier New"/>
                <a:sym typeface="Courier New"/>
              </a:rPr>
              <a:t>FridgeItem(id PK, frigorifero_id FK, prodotto_id FK, quantita, data_scadenza, data_inserimento, stato)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Courier New"/>
                <a:ea typeface="Courier New"/>
                <a:cs typeface="Courier New"/>
                <a:sym typeface="Courier New"/>
              </a:rPr>
              <a:t>Ricetta(id PK, nome, istruzioni)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Courier New"/>
                <a:ea typeface="Courier New"/>
                <a:cs typeface="Courier New"/>
                <a:sym typeface="Courier New"/>
              </a:rPr>
              <a:t>IngredienteRicetta(id PK, ricetta_id FK, prodotto_id FK, quantita_necessaria)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Courier New"/>
                <a:ea typeface="Courier New"/>
                <a:cs typeface="Courier New"/>
                <a:sym typeface="Courier New"/>
              </a:rPr>
              <a:t>Notifica(id PK, utente_id FK, fridge_item_id FK, messaggio, data_creazione, letta)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914400" y="530352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1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PK = chiave primaria · FK = chiave esterna · U = univoco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2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5" name="Google Shape;335;p12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6" name="Google Shape;336;p12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7" name="Google Shape;337;p12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8" name="Google Shape;338;p12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9" name="Google Shape;339;p12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3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3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PROGETTAZIONE LOGICA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I vincoli che proteggono i dati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548640" y="1554480"/>
            <a:ext cx="11091672" cy="960120"/>
          </a:xfrm>
          <a:prstGeom prst="roundRect">
            <a:avLst>
              <a:gd fmla="val 12381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"/>
          <p:cNvSpPr/>
          <p:nvPr/>
        </p:nvSpPr>
        <p:spPr>
          <a:xfrm>
            <a:off x="868680" y="1700784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550"/>
              <a:buFont typeface="Poppins"/>
              <a:buNone/>
            </a:pPr>
            <a:r>
              <a:rPr b="1" i="0" lang="en-US" sz="155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Integrit</a:t>
            </a:r>
            <a:r>
              <a:rPr b="1" lang="en-US" sz="1550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à</a:t>
            </a:r>
            <a:r>
              <a:rPr b="1" i="0" lang="en-US" sz="155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 referenziale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13"/>
          <p:cNvCxnSpPr/>
          <p:nvPr/>
        </p:nvCxnSpPr>
        <p:spPr>
          <a:xfrm>
            <a:off x="4160520" y="1737360"/>
            <a:ext cx="0" cy="594360"/>
          </a:xfrm>
          <a:prstGeom prst="straightConnector1">
            <a:avLst/>
          </a:prstGeom>
          <a:noFill/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13"/>
          <p:cNvSpPr/>
          <p:nvPr/>
        </p:nvSpPr>
        <p:spPr>
          <a:xfrm>
            <a:off x="4389120" y="1682496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Ogni chiave esterna punta a una riga esistente.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4389120" y="2066544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1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es. un FridgeItem riferisce sempre un Prodotto reale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548640" y="2679192"/>
            <a:ext cx="11091672" cy="960120"/>
          </a:xfrm>
          <a:prstGeom prst="roundRect">
            <a:avLst>
              <a:gd fmla="val 12381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3"/>
          <p:cNvSpPr/>
          <p:nvPr/>
        </p:nvSpPr>
        <p:spPr>
          <a:xfrm>
            <a:off x="868680" y="2825496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550"/>
              <a:buFont typeface="Poppins"/>
              <a:buNone/>
            </a:pPr>
            <a:r>
              <a:rPr b="1" i="0" lang="en-US" sz="155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Vincoli di dominio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13"/>
          <p:cNvCxnSpPr/>
          <p:nvPr/>
        </p:nvCxnSpPr>
        <p:spPr>
          <a:xfrm>
            <a:off x="4160520" y="2862072"/>
            <a:ext cx="0" cy="594360"/>
          </a:xfrm>
          <a:prstGeom prst="straightConnector1">
            <a:avLst/>
          </a:prstGeom>
          <a:noFill/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13"/>
          <p:cNvSpPr/>
          <p:nvPr/>
        </p:nvSpPr>
        <p:spPr>
          <a:xfrm>
            <a:off x="4389120" y="2807208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I campi accettano solo valori validi.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389120" y="3191256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1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stato ∈ {disponibile, consumato, scaduto}; ruolo ∈ {owner, member}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548640" y="3803904"/>
            <a:ext cx="11091672" cy="960120"/>
          </a:xfrm>
          <a:prstGeom prst="roundRect">
            <a:avLst>
              <a:gd fmla="val 12381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868680" y="3950208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550"/>
              <a:buFont typeface="Poppins"/>
              <a:buNone/>
            </a:pPr>
            <a:r>
              <a:rPr b="1" i="0" lang="en-US" sz="155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Univocit</a:t>
            </a:r>
            <a:r>
              <a:rPr b="1" lang="en-US" sz="1550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à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13"/>
          <p:cNvCxnSpPr/>
          <p:nvPr/>
        </p:nvCxnSpPr>
        <p:spPr>
          <a:xfrm>
            <a:off x="4160520" y="3986784"/>
            <a:ext cx="0" cy="594360"/>
          </a:xfrm>
          <a:prstGeom prst="straightConnector1">
            <a:avLst/>
          </a:prstGeom>
          <a:noFill/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13"/>
          <p:cNvSpPr/>
          <p:nvPr/>
        </p:nvSpPr>
        <p:spPr>
          <a:xfrm>
            <a:off x="4389120" y="393192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Nessun duplicato dove non ha senso.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4389120" y="4315968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1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email unica; coppia (utente, frigo) unica in Condivisione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548640" y="4928616"/>
            <a:ext cx="11091672" cy="960120"/>
          </a:xfrm>
          <a:prstGeom prst="roundRect">
            <a:avLst>
              <a:gd fmla="val 12381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868680" y="507492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550"/>
              <a:buFont typeface="Poppins"/>
              <a:buNone/>
            </a:pPr>
            <a:r>
              <a:rPr b="1" i="0" lang="en-US" sz="155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Regole applicative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13"/>
          <p:cNvCxnSpPr/>
          <p:nvPr/>
        </p:nvCxnSpPr>
        <p:spPr>
          <a:xfrm>
            <a:off x="4160520" y="5111496"/>
            <a:ext cx="0" cy="594360"/>
          </a:xfrm>
          <a:prstGeom prst="straightConnector1">
            <a:avLst/>
          </a:prstGeom>
          <a:noFill/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13"/>
          <p:cNvSpPr/>
          <p:nvPr/>
        </p:nvSpPr>
        <p:spPr>
          <a:xfrm>
            <a:off x="4389120" y="5056632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Controlli gestiti dal codice.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4389120" y="5440680"/>
            <a:ext cx="7040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150"/>
              <a:buFont typeface="Poppins"/>
              <a:buNone/>
            </a:pPr>
            <a:r>
              <a:rPr b="0" i="1" lang="en-US" sz="11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ogni frigo ha un solo owner; scadenza non nel passato; quantita' &gt;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3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9" name="Google Shape;369;p13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0" name="Google Shape;370;p13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1" name="Google Shape;371;p13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13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13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4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4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IMPLEMENTAZIONE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Architettura MVT e mappatura ORM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4"/>
          <p:cNvSpPr/>
          <p:nvPr/>
        </p:nvSpPr>
        <p:spPr>
          <a:xfrm>
            <a:off x="548640" y="1554480"/>
            <a:ext cx="3246120" cy="18288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4"/>
          <p:cNvSpPr/>
          <p:nvPr/>
        </p:nvSpPr>
        <p:spPr>
          <a:xfrm>
            <a:off x="1805940" y="1810512"/>
            <a:ext cx="731520" cy="731520"/>
          </a:xfrm>
          <a:prstGeom prst="ellipse">
            <a:avLst/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a_db.png" id="384" name="Google Shape;38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79676" y="197510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4"/>
          <p:cNvSpPr/>
          <p:nvPr/>
        </p:nvSpPr>
        <p:spPr>
          <a:xfrm>
            <a:off x="548640" y="260604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548665" y="2816343"/>
            <a:ext cx="3246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0A8F61"/>
                </a:solidFill>
                <a:latin typeface="Courier New"/>
                <a:ea typeface="Courier New"/>
                <a:cs typeface="Courier New"/>
                <a:sym typeface="Courier New"/>
              </a:rPr>
              <a:t>models.py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3/a_arrow.png" id="387" name="Google Shape;38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54780" y="2331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4"/>
          <p:cNvSpPr/>
          <p:nvPr/>
        </p:nvSpPr>
        <p:spPr>
          <a:xfrm>
            <a:off x="4389120" y="1554480"/>
            <a:ext cx="3246120" cy="18288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4"/>
          <p:cNvSpPr/>
          <p:nvPr/>
        </p:nvSpPr>
        <p:spPr>
          <a:xfrm>
            <a:off x="5646420" y="1810512"/>
            <a:ext cx="731520" cy="731520"/>
          </a:xfrm>
          <a:prstGeom prst="ellipse">
            <a:avLst/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a_code.png" id="390" name="Google Shape;39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20156" y="197510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14"/>
          <p:cNvSpPr/>
          <p:nvPr/>
        </p:nvSpPr>
        <p:spPr>
          <a:xfrm>
            <a:off x="4389120" y="260604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View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4389120" y="294436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0A8F61"/>
                </a:solidFill>
                <a:latin typeface="Courier New"/>
                <a:ea typeface="Courier New"/>
                <a:cs typeface="Courier New"/>
                <a:sym typeface="Courier New"/>
              </a:rPr>
              <a:t>views.py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3/a_arrow.png" id="393" name="Google Shape;3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95260" y="2331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4"/>
          <p:cNvSpPr/>
          <p:nvPr/>
        </p:nvSpPr>
        <p:spPr>
          <a:xfrm>
            <a:off x="8229600" y="1554480"/>
            <a:ext cx="3246120" cy="1828800"/>
          </a:xfrm>
          <a:prstGeom prst="roundRect">
            <a:avLst>
              <a:gd fmla="val 65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4"/>
          <p:cNvSpPr/>
          <p:nvPr/>
        </p:nvSpPr>
        <p:spPr>
          <a:xfrm>
            <a:off x="9486900" y="1810512"/>
            <a:ext cx="731520" cy="731520"/>
          </a:xfrm>
          <a:prstGeom prst="ellipse">
            <a:avLst/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a_layer.png" id="396" name="Google Shape;3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60636" y="1975104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14"/>
          <p:cNvSpPr/>
          <p:nvPr/>
        </p:nvSpPr>
        <p:spPr>
          <a:xfrm>
            <a:off x="8229600" y="2606040"/>
            <a:ext cx="3246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800"/>
              <a:buFont typeface="Poppins"/>
              <a:buNone/>
            </a:pPr>
            <a:r>
              <a:rPr b="1" i="0" lang="en-US" sz="1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Template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8229600" y="294436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150"/>
              <a:buFont typeface="Courier New"/>
              <a:buNone/>
            </a:pPr>
            <a:r>
              <a:rPr b="0" i="0" lang="en-US" sz="1150" u="none" cap="none" strike="noStrike">
                <a:solidFill>
                  <a:srgbClr val="0A8F61"/>
                </a:solidFill>
                <a:latin typeface="Courier New"/>
                <a:ea typeface="Courier New"/>
                <a:cs typeface="Courier New"/>
                <a:sym typeface="Courier New"/>
              </a:rPr>
              <a:t>HTML + Bootstrap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548640" y="3657600"/>
            <a:ext cx="11091672" cy="1920240"/>
          </a:xfrm>
          <a:prstGeom prst="roundRect">
            <a:avLst>
              <a:gd fmla="val 6190" name="adj"/>
            </a:avLst>
          </a:prstGeom>
          <a:solidFill>
            <a:srgbClr val="E7F8F1"/>
          </a:solidFill>
          <a:ln cap="flat" cmpd="sng" w="19050">
            <a:solidFill>
              <a:srgbClr val="0FB3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4"/>
          <p:cNvSpPr/>
          <p:nvPr/>
        </p:nvSpPr>
        <p:spPr>
          <a:xfrm>
            <a:off x="868680" y="3840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LA MAPPATURA SULL'ORM DI DJANGO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868680" y="4206240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250"/>
              <a:buFont typeface="Poppins"/>
              <a:buChar char="•"/>
            </a:pPr>
            <a:r>
              <a:rPr b="0" i="0" lang="en-US" sz="12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Ogni </a:t>
            </a:r>
            <a:r>
              <a:rPr lang="en-US" sz="1250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entità</a:t>
            </a:r>
            <a:r>
              <a:rPr b="0" i="0" lang="en-US" sz="12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 diventa una classe; ogni attributo una colonna del database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868680" y="4535424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250"/>
              <a:buFont typeface="Poppins"/>
              <a:buChar char="•"/>
            </a:pPr>
            <a:r>
              <a:rPr b="0" i="0" lang="en-US" sz="12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Le chiavi esterne sono campi ForeignKey; le relazioni N:N usano un through model (Condivisione, IngredienteRicetta)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>
            <a:off x="868680" y="486460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250"/>
              <a:buFont typeface="Poppins"/>
              <a:buChar char="•"/>
            </a:pPr>
            <a:r>
              <a:rPr b="0" i="0" lang="en-US" sz="12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Lo stato di scadenza non </a:t>
            </a:r>
            <a:r>
              <a:rPr lang="en-US" sz="1250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è </a:t>
            </a:r>
            <a:r>
              <a:rPr b="0" i="0" lang="en-US" sz="12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 salvato ma calcolato a runtime (proprieta' is_scaduto, in_scadenza)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868680" y="5193792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250"/>
              <a:buFont typeface="Poppins"/>
              <a:buChar char="•"/>
            </a:pPr>
            <a:r>
              <a:rPr lang="en-US" sz="1250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L'entità</a:t>
            </a:r>
            <a:r>
              <a:rPr b="0" i="0" lang="en-US" sz="12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 Utente coincide con il modello User integrato di Django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6" name="Google Shape;406;p14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7" name="Google Shape;407;p14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8" name="Google Shape;408;p14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14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14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15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IMPLEMENTAZIONE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Lo stack tecnologico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fmla="val 12381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822960" y="1778508"/>
            <a:ext cx="603504" cy="603504"/>
          </a:xfrm>
          <a:prstGeom prst="ellipse">
            <a:avLst/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a_code.png" id="421" name="Google Shape;4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8408" y="1933956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15"/>
          <p:cNvSpPr/>
          <p:nvPr/>
        </p:nvSpPr>
        <p:spPr>
          <a:xfrm>
            <a:off x="1645920" y="1746504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Python + Django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5394960" y="1600200"/>
            <a:ext cx="6035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Linguaggio e framework backend: modelli, viste, URL, autenticazione.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548640" y="2724912"/>
            <a:ext cx="11091672" cy="960120"/>
          </a:xfrm>
          <a:prstGeom prst="roundRect">
            <a:avLst>
              <a:gd fmla="val 12381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822960" y="2903220"/>
            <a:ext cx="603504" cy="603504"/>
          </a:xfrm>
          <a:prstGeom prst="ellipse">
            <a:avLst/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a_db.png" id="426" name="Google Shape;42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408" y="3058668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5"/>
          <p:cNvSpPr/>
          <p:nvPr/>
        </p:nvSpPr>
        <p:spPr>
          <a:xfrm>
            <a:off x="1645920" y="2871216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SQLite / MySQL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5394960" y="2724912"/>
            <a:ext cx="6035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SQLite in sviluppo (zero configurazione), MySQL in produzione. Stesso codice.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548640" y="3849624"/>
            <a:ext cx="11091672" cy="960120"/>
          </a:xfrm>
          <a:prstGeom prst="roundRect">
            <a:avLst>
              <a:gd fmla="val 12381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822960" y="4027932"/>
            <a:ext cx="603504" cy="603504"/>
          </a:xfrm>
          <a:prstGeom prst="ellipse">
            <a:avLst/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a_layer.png" id="431" name="Google Shape;43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8408" y="41833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5"/>
          <p:cNvSpPr/>
          <p:nvPr/>
        </p:nvSpPr>
        <p:spPr>
          <a:xfrm>
            <a:off x="1645920" y="3995928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Template + Bootstrap 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5"/>
          <p:cNvSpPr/>
          <p:nvPr/>
        </p:nvSpPr>
        <p:spPr>
          <a:xfrm>
            <a:off x="5394960" y="3849624"/>
            <a:ext cx="6035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Pagine generate dal server e impaginate in modo responsive.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548640" y="4974336"/>
            <a:ext cx="11091672" cy="960120"/>
          </a:xfrm>
          <a:prstGeom prst="roundRect">
            <a:avLst>
              <a:gd fmla="val 12381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822960" y="5152644"/>
            <a:ext cx="603504" cy="603504"/>
          </a:xfrm>
          <a:prstGeom prst="ellipse">
            <a:avLst/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a_bolt.png" id="436" name="Google Shape;43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8408" y="5308092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5"/>
          <p:cNvSpPr/>
          <p:nvPr/>
        </p:nvSpPr>
        <p:spPr>
          <a:xfrm>
            <a:off x="1645920" y="5120640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JavaScript essenziale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5394960" y="4974336"/>
            <a:ext cx="6035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300"/>
              <a:buFont typeface="Poppins"/>
              <a:buNone/>
            </a:pPr>
            <a:r>
              <a:rPr b="0" i="0" lang="en-US" sz="130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Usato solo dove indispensabile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5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0" name="Google Shape;440;p15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1" name="Google Shape;441;p15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2" name="Google Shape;442;p15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3" name="Google Shape;443;p15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4" name="Google Shape;444;p15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6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6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IMPLEMENTAZIONE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6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Le </a:t>
            </a:r>
            <a:r>
              <a:rPr b="1" lang="en-US" sz="2800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funzionalità</a:t>
            </a: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 realizzate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548640" y="1554480"/>
            <a:ext cx="5440680" cy="11887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6"/>
          <p:cNvSpPr/>
          <p:nvPr/>
        </p:nvSpPr>
        <p:spPr>
          <a:xfrm>
            <a:off x="822960" y="1847088"/>
            <a:ext cx="603504" cy="603504"/>
          </a:xfrm>
          <a:prstGeom prst="ellipse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key.png" id="455" name="Google Shape;45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9264" y="19933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6"/>
          <p:cNvSpPr/>
          <p:nvPr/>
        </p:nvSpPr>
        <p:spPr>
          <a:xfrm>
            <a:off x="1645920" y="1801368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Autenticazione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1645920" y="221284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250"/>
              <a:buFont typeface="Poppins"/>
              <a:buNone/>
            </a:pPr>
            <a:r>
              <a:rPr b="0" i="0" lang="en-US" sz="12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registrazione, login e logout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6172200" y="1554480"/>
            <a:ext cx="5440680" cy="11887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6"/>
          <p:cNvSpPr/>
          <p:nvPr/>
        </p:nvSpPr>
        <p:spPr>
          <a:xfrm>
            <a:off x="6446520" y="1847088"/>
            <a:ext cx="603504" cy="603504"/>
          </a:xfrm>
          <a:prstGeom prst="ellipse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share.png" id="460" name="Google Shape;46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92824" y="19933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6"/>
          <p:cNvSpPr/>
          <p:nvPr/>
        </p:nvSpPr>
        <p:spPr>
          <a:xfrm>
            <a:off x="7269480" y="1801368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Condivisione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6"/>
          <p:cNvSpPr/>
          <p:nvPr/>
        </p:nvSpPr>
        <p:spPr>
          <a:xfrm>
            <a:off x="7269480" y="221284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250"/>
              <a:buFont typeface="Poppins"/>
              <a:buNone/>
            </a:pPr>
            <a:r>
              <a:rPr b="0" i="0" lang="en-US" sz="12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frigo condivisi con ruoli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548640" y="2926080"/>
            <a:ext cx="5440680" cy="11887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6"/>
          <p:cNvSpPr/>
          <p:nvPr/>
        </p:nvSpPr>
        <p:spPr>
          <a:xfrm>
            <a:off x="822960" y="3218688"/>
            <a:ext cx="603504" cy="603504"/>
          </a:xfrm>
          <a:prstGeom prst="ellipse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box.png" id="465" name="Google Shape;46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9264" y="33649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16"/>
          <p:cNvSpPr/>
          <p:nvPr/>
        </p:nvSpPr>
        <p:spPr>
          <a:xfrm>
            <a:off x="1645920" y="3172968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Gestione prodotti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6"/>
          <p:cNvSpPr/>
          <p:nvPr/>
        </p:nvSpPr>
        <p:spPr>
          <a:xfrm>
            <a:off x="1645920" y="358444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250"/>
              <a:buFont typeface="Poppins"/>
              <a:buNone/>
            </a:pPr>
            <a:r>
              <a:rPr b="0" i="0" lang="en-US" sz="12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inserimento, stato, categorie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6172200" y="2926080"/>
            <a:ext cx="5440680" cy="11887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6"/>
          <p:cNvSpPr/>
          <p:nvPr/>
        </p:nvSpPr>
        <p:spPr>
          <a:xfrm>
            <a:off x="6446520" y="3218688"/>
            <a:ext cx="603504" cy="603504"/>
          </a:xfrm>
          <a:prstGeom prst="ellipse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bell.png" id="470" name="Google Shape;47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92824" y="33649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16"/>
          <p:cNvSpPr/>
          <p:nvPr/>
        </p:nvSpPr>
        <p:spPr>
          <a:xfrm>
            <a:off x="7269480" y="3172968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Notifiche scadenze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6"/>
          <p:cNvSpPr/>
          <p:nvPr/>
        </p:nvSpPr>
        <p:spPr>
          <a:xfrm>
            <a:off x="7269480" y="358444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250"/>
              <a:buFont typeface="Poppins"/>
              <a:buNone/>
            </a:pPr>
            <a:r>
              <a:rPr b="0" i="0" lang="en-US" sz="12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controllo automatico e avvisi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548640" y="4297680"/>
            <a:ext cx="5440680" cy="11887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6"/>
          <p:cNvSpPr/>
          <p:nvPr/>
        </p:nvSpPr>
        <p:spPr>
          <a:xfrm>
            <a:off x="822960" y="4590288"/>
            <a:ext cx="603504" cy="603504"/>
          </a:xfrm>
          <a:prstGeom prst="ellipse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utensils.png" id="475" name="Google Shape;47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9264" y="47365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/>
          <p:nvPr/>
        </p:nvSpPr>
        <p:spPr>
          <a:xfrm>
            <a:off x="1645920" y="4544568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Ricette suggerite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6"/>
          <p:cNvSpPr/>
          <p:nvPr/>
        </p:nvSpPr>
        <p:spPr>
          <a:xfrm>
            <a:off x="1645920" y="495604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250"/>
              <a:buFont typeface="Poppins"/>
              <a:buNone/>
            </a:pPr>
            <a:r>
              <a:rPr b="0" i="0" lang="en-US" sz="12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cosa cucinare con cio' che hai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6172200" y="4297680"/>
            <a:ext cx="5440680" cy="11887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6"/>
          <p:cNvSpPr/>
          <p:nvPr/>
        </p:nvSpPr>
        <p:spPr>
          <a:xfrm>
            <a:off x="6446520" y="4590288"/>
            <a:ext cx="603504" cy="603504"/>
          </a:xfrm>
          <a:prstGeom prst="ellipse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db.png" id="480" name="Google Shape;48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92824" y="473659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16"/>
          <p:cNvSpPr/>
          <p:nvPr/>
        </p:nvSpPr>
        <p:spPr>
          <a:xfrm>
            <a:off x="7269480" y="4544568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Dati di esempio2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6"/>
          <p:cNvSpPr/>
          <p:nvPr/>
        </p:nvSpPr>
        <p:spPr>
          <a:xfrm>
            <a:off x="7269480" y="4956048"/>
            <a:ext cx="4160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C76"/>
              </a:buClr>
              <a:buSzPts val="1250"/>
              <a:buFont typeface="Poppins"/>
              <a:buNone/>
            </a:pPr>
            <a:r>
              <a:rPr b="0" i="0" lang="en-US" sz="12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comando per popolare il DB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4" name="Google Shape;484;p16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5" name="Google Shape;485;p16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6" name="Google Shape;486;p16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16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" name="Google Shape;488;p16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7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7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L'APP IN FUNZIONE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7"/>
          <p:cNvSpPr/>
          <p:nvPr/>
        </p:nvSpPr>
        <p:spPr>
          <a:xfrm>
            <a:off x="521197" y="822950"/>
            <a:ext cx="115413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Login e accesso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7"/>
          <p:cNvSpPr/>
          <p:nvPr/>
        </p:nvSpPr>
        <p:spPr>
          <a:xfrm>
            <a:off x="2593500" y="1391000"/>
            <a:ext cx="7204800" cy="5466900"/>
          </a:xfrm>
          <a:prstGeom prst="roundRect">
            <a:avLst>
              <a:gd fmla="val 2802" name="adj"/>
            </a:avLst>
          </a:prstGeom>
          <a:solidFill>
            <a:srgbClr val="FFFFFF"/>
          </a:solidFill>
          <a:ln cap="flat" cmpd="sng" w="12700">
            <a:solidFill>
              <a:srgbClr val="0FB3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7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99" name="Google Shape;499;p17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17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1" name="Google Shape;501;p17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17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17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04" name="Google Shape;5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3900" y="1463150"/>
            <a:ext cx="6442699" cy="5203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8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8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L'APP IN FUNZIONE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8"/>
          <p:cNvSpPr/>
          <p:nvPr/>
        </p:nvSpPr>
        <p:spPr>
          <a:xfrm>
            <a:off x="521197" y="713226"/>
            <a:ext cx="11411700" cy="7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La dashboard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8"/>
          <p:cNvSpPr/>
          <p:nvPr/>
        </p:nvSpPr>
        <p:spPr>
          <a:xfrm>
            <a:off x="1255725" y="1319125"/>
            <a:ext cx="9517800" cy="5460600"/>
          </a:xfrm>
          <a:prstGeom prst="roundRect">
            <a:avLst>
              <a:gd fmla="val 2228" name="adj"/>
            </a:avLst>
          </a:prstGeom>
          <a:solidFill>
            <a:srgbClr val="FFFFFF"/>
          </a:solidFill>
          <a:ln cap="flat" cmpd="sng" w="12700">
            <a:solidFill>
              <a:srgbClr val="0FB3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8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5" name="Google Shape;515;p18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p18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17" name="Google Shape;517;p18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p18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18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20" name="Google Shape;52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6313" y="1444750"/>
            <a:ext cx="9165575" cy="506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9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9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L'APP IN FUNZIONE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9"/>
          <p:cNvSpPr/>
          <p:nvPr/>
        </p:nvSpPr>
        <p:spPr>
          <a:xfrm>
            <a:off x="521197" y="822950"/>
            <a:ext cx="114117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Il frigo visuale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1117325" y="1444750"/>
            <a:ext cx="9956700" cy="5334900"/>
          </a:xfrm>
          <a:prstGeom prst="roundRect">
            <a:avLst>
              <a:gd fmla="val 2228" name="adj"/>
            </a:avLst>
          </a:prstGeom>
          <a:solidFill>
            <a:srgbClr val="FFFFFF"/>
          </a:solidFill>
          <a:ln cap="flat" cmpd="sng" w="12700">
            <a:solidFill>
              <a:srgbClr val="0FB3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9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1" name="Google Shape;531;p19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2" name="Google Shape;532;p19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33" name="Google Shape;533;p19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4" name="Google Shape;534;p19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19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36" name="Google Shape;53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2525" y="1554425"/>
            <a:ext cx="9526926" cy="511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0"/>
          <p:cNvSpPr/>
          <p:nvPr/>
        </p:nvSpPr>
        <p:spPr>
          <a:xfrm>
            <a:off x="548640" y="566928"/>
            <a:ext cx="146400" cy="146400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0"/>
          <p:cNvSpPr/>
          <p:nvPr/>
        </p:nvSpPr>
        <p:spPr>
          <a:xfrm>
            <a:off x="822960" y="45720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L'APP IN FUNZIONE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20"/>
          <p:cNvSpPr/>
          <p:nvPr/>
        </p:nvSpPr>
        <p:spPr>
          <a:xfrm>
            <a:off x="521197" y="822950"/>
            <a:ext cx="114117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lang="en-US" sz="2800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Ricette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0"/>
          <p:cNvSpPr/>
          <p:nvPr/>
        </p:nvSpPr>
        <p:spPr>
          <a:xfrm>
            <a:off x="1117325" y="1444750"/>
            <a:ext cx="9956700" cy="5334900"/>
          </a:xfrm>
          <a:prstGeom prst="roundRect">
            <a:avLst>
              <a:gd fmla="val 2228" name="adj"/>
            </a:avLst>
          </a:prstGeom>
          <a:solidFill>
            <a:srgbClr val="FFFFFF"/>
          </a:solidFill>
          <a:ln cap="flat" cmpd="sng" w="12700">
            <a:solidFill>
              <a:srgbClr val="0FB3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20"/>
          <p:cNvSpPr/>
          <p:nvPr/>
        </p:nvSpPr>
        <p:spPr>
          <a:xfrm>
            <a:off x="566928" y="6291072"/>
            <a:ext cx="199800" cy="255900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7" name="Google Shape;547;p20"/>
          <p:cNvCxnSpPr/>
          <p:nvPr/>
        </p:nvCxnSpPr>
        <p:spPr>
          <a:xfrm>
            <a:off x="566928" y="6398605"/>
            <a:ext cx="199800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8" name="Google Shape;548;p20"/>
          <p:cNvSpPr/>
          <p:nvPr/>
        </p:nvSpPr>
        <p:spPr>
          <a:xfrm>
            <a:off x="598881" y="6321796"/>
            <a:ext cx="26100" cy="46200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49" name="Google Shape;549;p20"/>
          <p:cNvCxnSpPr/>
          <p:nvPr/>
        </p:nvCxnSpPr>
        <p:spPr>
          <a:xfrm>
            <a:off x="666780" y="6424209"/>
            <a:ext cx="0" cy="8190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0" name="Google Shape;550;p20"/>
          <p:cNvCxnSpPr/>
          <p:nvPr/>
        </p:nvCxnSpPr>
        <p:spPr>
          <a:xfrm>
            <a:off x="625815" y="6440595"/>
            <a:ext cx="81900" cy="4920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1" name="Google Shape;551;p20"/>
          <p:cNvCxnSpPr/>
          <p:nvPr/>
        </p:nvCxnSpPr>
        <p:spPr>
          <a:xfrm flipH="1" rot="10800000">
            <a:off x="625815" y="6440553"/>
            <a:ext cx="81900" cy="4920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52" name="Google Shape;552;p20" title="Screenshot 2026-06-08 1802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3200" y="1602350"/>
            <a:ext cx="9705576" cy="501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21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21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IMPLEMENTAZIONE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1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Il database popolato e i dati di esempio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1"/>
          <p:cNvSpPr/>
          <p:nvPr/>
        </p:nvSpPr>
        <p:spPr>
          <a:xfrm>
            <a:off x="548640" y="1554480"/>
            <a:ext cx="5394960" cy="3931920"/>
          </a:xfrm>
          <a:prstGeom prst="roundRect">
            <a:avLst>
              <a:gd fmla="val 3023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1"/>
          <p:cNvSpPr/>
          <p:nvPr/>
        </p:nvSpPr>
        <p:spPr>
          <a:xfrm>
            <a:off x="868680" y="1783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DUE MODI, STESSI DATI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1"/>
          <p:cNvSpPr/>
          <p:nvPr/>
        </p:nvSpPr>
        <p:spPr>
          <a:xfrm>
            <a:off x="868680" y="2212848"/>
            <a:ext cx="46634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10241C"/>
                </a:solidFill>
                <a:latin typeface="Courier New"/>
                <a:ea typeface="Courier New"/>
                <a:cs typeface="Courier New"/>
                <a:sym typeface="Courier New"/>
              </a:rPr>
              <a:t>popola_db</a:t>
            </a:r>
            <a:r>
              <a:rPr b="0" i="0" lang="en-US" sz="13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  – comando che genera i dati al momento, con scadenze sempre aggiornate a oggi (opzione --reset per ricaricare).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1"/>
          <p:cNvSpPr/>
          <p:nvPr/>
        </p:nvSpPr>
        <p:spPr>
          <a:xfrm>
            <a:off x="868680" y="3611880"/>
            <a:ext cx="4663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Courier New"/>
              <a:buNone/>
            </a:pPr>
            <a:r>
              <a:rPr b="1" i="0" lang="en-US" sz="1350" u="none" cap="none" strike="noStrike">
                <a:solidFill>
                  <a:srgbClr val="10241C"/>
                </a:solidFill>
                <a:latin typeface="Courier New"/>
                <a:ea typeface="Courier New"/>
                <a:cs typeface="Courier New"/>
                <a:sym typeface="Courier New"/>
              </a:rPr>
              <a:t>dati_esempio2.json</a:t>
            </a:r>
            <a:r>
              <a:rPr b="0" i="0" lang="en-US" sz="13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  – fixture importabile con loaddata: lo stesso insieme di dati gi</a:t>
            </a:r>
            <a:r>
              <a:rPr lang="en-US" sz="1350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à</a:t>
            </a:r>
            <a:r>
              <a:rPr b="0" i="0" lang="en-US" sz="1350" u="none" cap="none" strike="noStrike">
                <a:solidFill>
                  <a:srgbClr val="6B7C76"/>
                </a:solidFill>
                <a:latin typeface="Poppins"/>
                <a:ea typeface="Poppins"/>
                <a:cs typeface="Poppins"/>
                <a:sym typeface="Poppins"/>
              </a:rPr>
              <a:t> confezionato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1"/>
          <p:cNvSpPr/>
          <p:nvPr/>
        </p:nvSpPr>
        <p:spPr>
          <a:xfrm>
            <a:off x="6263640" y="1554480"/>
            <a:ext cx="5376672" cy="3931920"/>
          </a:xfrm>
          <a:prstGeom prst="roundRect">
            <a:avLst>
              <a:gd fmla="val 3023" name="adj"/>
            </a:avLst>
          </a:prstGeom>
          <a:solidFill>
            <a:srgbClr val="E7F8F1"/>
          </a:solidFill>
          <a:ln cap="flat" cmpd="sng" w="19050">
            <a:solidFill>
              <a:srgbClr val="0FB37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1"/>
          <p:cNvSpPr/>
          <p:nvPr/>
        </p:nvSpPr>
        <p:spPr>
          <a:xfrm>
            <a:off x="6583680" y="17830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COSA CONTIENE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1"/>
          <p:cNvSpPr/>
          <p:nvPr/>
        </p:nvSpPr>
        <p:spPr>
          <a:xfrm>
            <a:off x="6583680" y="2240280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1"/>
          <p:cNvSpPr/>
          <p:nvPr/>
        </p:nvSpPr>
        <p:spPr>
          <a:xfrm>
            <a:off x="7680960" y="2286000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utenti (mario, giulia, luca, admin)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1"/>
          <p:cNvSpPr/>
          <p:nvPr/>
        </p:nvSpPr>
        <p:spPr>
          <a:xfrm>
            <a:off x="6583680" y="2843784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21"/>
          <p:cNvSpPr/>
          <p:nvPr/>
        </p:nvSpPr>
        <p:spPr>
          <a:xfrm>
            <a:off x="7680960" y="2889504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frigoriferi condivisi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21"/>
          <p:cNvSpPr/>
          <p:nvPr/>
        </p:nvSpPr>
        <p:spPr>
          <a:xfrm>
            <a:off x="6583680" y="3447288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~30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1"/>
          <p:cNvSpPr/>
          <p:nvPr/>
        </p:nvSpPr>
        <p:spPr>
          <a:xfrm>
            <a:off x="7680960" y="3493008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prodotti con scadenze realistiche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1"/>
          <p:cNvSpPr/>
          <p:nvPr/>
        </p:nvSpPr>
        <p:spPr>
          <a:xfrm>
            <a:off x="6583680" y="405079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21"/>
          <p:cNvSpPr/>
          <p:nvPr/>
        </p:nvSpPr>
        <p:spPr>
          <a:xfrm>
            <a:off x="7680960" y="4096512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ricette con ingredienti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21"/>
          <p:cNvSpPr/>
          <p:nvPr/>
        </p:nvSpPr>
        <p:spPr>
          <a:xfrm>
            <a:off x="6583680" y="4654296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2200"/>
              <a:buFont typeface="Poppins"/>
              <a:buNone/>
            </a:pPr>
            <a:r>
              <a:rPr b="1" i="0" lang="en-US" sz="2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17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1"/>
          <p:cNvSpPr/>
          <p:nvPr/>
        </p:nvSpPr>
        <p:spPr>
          <a:xfrm>
            <a:off x="7680960" y="4700016"/>
            <a:ext cx="3840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50"/>
              <a:buFont typeface="Poppins"/>
              <a:buNone/>
            </a:pPr>
            <a:r>
              <a:rPr b="0" i="0" lang="en-US" sz="135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notifiche gia' generate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1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78" name="Google Shape;578;p21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9" name="Google Shape;579;p21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80" name="Google Shape;580;p21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p21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21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22"/>
          <p:cNvSpPr/>
          <p:nvPr/>
        </p:nvSpPr>
        <p:spPr>
          <a:xfrm>
            <a:off x="548640" y="566928"/>
            <a:ext cx="146304" cy="146304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2"/>
          <p:cNvSpPr/>
          <p:nvPr/>
        </p:nvSpPr>
        <p:spPr>
          <a:xfrm>
            <a:off x="822960" y="4572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SEZIONE </a:t>
            </a:r>
            <a:r>
              <a:rPr b="1" lang="en-US" sz="1200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SICUREZZA</a:t>
            </a:r>
            <a:endParaRPr b="1" sz="1200">
              <a:solidFill>
                <a:srgbClr val="0A8F6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p22"/>
          <p:cNvSpPr/>
          <p:nvPr/>
        </p:nvSpPr>
        <p:spPr>
          <a:xfrm>
            <a:off x="521208" y="822960"/>
            <a:ext cx="107899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Sicurezza: attacchi e difese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2"/>
          <p:cNvSpPr/>
          <p:nvPr/>
        </p:nvSpPr>
        <p:spPr>
          <a:xfrm>
            <a:off x="548640" y="1554480"/>
            <a:ext cx="11091672" cy="1143000"/>
          </a:xfrm>
          <a:prstGeom prst="roundRect">
            <a:avLst>
              <a:gd fmla="val 104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2"/>
          <p:cNvSpPr/>
          <p:nvPr/>
        </p:nvSpPr>
        <p:spPr>
          <a:xfrm>
            <a:off x="868680" y="17373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33D"/>
              </a:buClr>
              <a:buSzPts val="1000"/>
              <a:buFont typeface="Poppins"/>
              <a:buNone/>
            </a:pPr>
            <a:r>
              <a:rPr b="1" i="0" lang="en-US" sz="1000" u="none" cap="none" strike="noStrike">
                <a:solidFill>
                  <a:srgbClr val="E0533D"/>
                </a:solidFill>
                <a:latin typeface="Poppins"/>
                <a:ea typeface="Poppins"/>
                <a:cs typeface="Poppins"/>
                <a:sym typeface="Poppins"/>
              </a:rPr>
              <a:t>ATTACCO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2"/>
          <p:cNvSpPr/>
          <p:nvPr/>
        </p:nvSpPr>
        <p:spPr>
          <a:xfrm>
            <a:off x="868680" y="197510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SQL injection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3/a_arrow.png" id="594" name="Google Shape;59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198882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22"/>
          <p:cNvSpPr/>
          <p:nvPr/>
        </p:nvSpPr>
        <p:spPr>
          <a:xfrm>
            <a:off x="5715000" y="1737360"/>
            <a:ext cx="5577840" cy="777240"/>
          </a:xfrm>
          <a:prstGeom prst="roundRect">
            <a:avLst>
              <a:gd fmla="val 11765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2"/>
          <p:cNvSpPr/>
          <p:nvPr/>
        </p:nvSpPr>
        <p:spPr>
          <a:xfrm>
            <a:off x="5943600" y="1924812"/>
            <a:ext cx="402336" cy="402336"/>
          </a:xfrm>
          <a:prstGeom prst="ellipse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check.png" id="597" name="Google Shape;59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4184" y="202539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22"/>
          <p:cNvSpPr/>
          <p:nvPr/>
        </p:nvSpPr>
        <p:spPr>
          <a:xfrm>
            <a:off x="6537960" y="1828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000"/>
              <a:buFont typeface="Poppins"/>
              <a:buNone/>
            </a:pPr>
            <a:r>
              <a:rPr b="1" i="0" lang="en-US" sz="10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DIFESA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2"/>
          <p:cNvSpPr/>
          <p:nvPr/>
        </p:nvSpPr>
        <p:spPr>
          <a:xfrm>
            <a:off x="6537960" y="2048889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ORM con query parametrizzate: l'input </a:t>
            </a:r>
            <a:r>
              <a:rPr b="1" lang="en-US" sz="1300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è </a:t>
            </a:r>
            <a:r>
              <a:rPr b="1" i="0" lang="en-US" sz="13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 sempre dato, mai codice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22"/>
          <p:cNvSpPr/>
          <p:nvPr/>
        </p:nvSpPr>
        <p:spPr>
          <a:xfrm>
            <a:off x="548640" y="2880360"/>
            <a:ext cx="11091672" cy="1143000"/>
          </a:xfrm>
          <a:prstGeom prst="roundRect">
            <a:avLst>
              <a:gd fmla="val 104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22"/>
          <p:cNvSpPr/>
          <p:nvPr/>
        </p:nvSpPr>
        <p:spPr>
          <a:xfrm>
            <a:off x="868680" y="30632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33D"/>
              </a:buClr>
              <a:buSzPts val="1000"/>
              <a:buFont typeface="Poppins"/>
              <a:buNone/>
            </a:pPr>
            <a:r>
              <a:rPr b="1" i="0" lang="en-US" sz="1000" u="none" cap="none" strike="noStrike">
                <a:solidFill>
                  <a:srgbClr val="E0533D"/>
                </a:solidFill>
                <a:latin typeface="Poppins"/>
                <a:ea typeface="Poppins"/>
                <a:cs typeface="Poppins"/>
                <a:sym typeface="Poppins"/>
              </a:rPr>
              <a:t>ATTACCO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22"/>
          <p:cNvSpPr/>
          <p:nvPr/>
        </p:nvSpPr>
        <p:spPr>
          <a:xfrm>
            <a:off x="868680" y="330098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Brute-force / dizionario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3/a_arrow.png" id="603" name="Google Shape;6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331470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22"/>
          <p:cNvSpPr/>
          <p:nvPr/>
        </p:nvSpPr>
        <p:spPr>
          <a:xfrm>
            <a:off x="5715000" y="3063240"/>
            <a:ext cx="5577840" cy="777240"/>
          </a:xfrm>
          <a:prstGeom prst="roundRect">
            <a:avLst>
              <a:gd fmla="val 11765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2"/>
          <p:cNvSpPr/>
          <p:nvPr/>
        </p:nvSpPr>
        <p:spPr>
          <a:xfrm>
            <a:off x="5943600" y="3250692"/>
            <a:ext cx="402336" cy="402336"/>
          </a:xfrm>
          <a:prstGeom prst="ellipse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check.png" id="606" name="Google Shape;60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4184" y="335127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22"/>
          <p:cNvSpPr/>
          <p:nvPr/>
        </p:nvSpPr>
        <p:spPr>
          <a:xfrm>
            <a:off x="6537960" y="31546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000"/>
              <a:buFont typeface="Poppins"/>
              <a:buNone/>
            </a:pPr>
            <a:r>
              <a:rPr b="1" i="0" lang="en-US" sz="10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DIFESA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2"/>
          <p:cNvSpPr/>
          <p:nvPr/>
        </p:nvSpPr>
        <p:spPr>
          <a:xfrm>
            <a:off x="6537960" y="3374769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throttling per IP + password salvate come hash PBKDF2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2"/>
          <p:cNvSpPr/>
          <p:nvPr/>
        </p:nvSpPr>
        <p:spPr>
          <a:xfrm>
            <a:off x="548640" y="4206240"/>
            <a:ext cx="11091672" cy="1143000"/>
          </a:xfrm>
          <a:prstGeom prst="roundRect">
            <a:avLst>
              <a:gd fmla="val 10400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2"/>
          <p:cNvSpPr/>
          <p:nvPr/>
        </p:nvSpPr>
        <p:spPr>
          <a:xfrm>
            <a:off x="868680" y="43891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33D"/>
              </a:buClr>
              <a:buSzPts val="1000"/>
              <a:buFont typeface="Poppins"/>
              <a:buNone/>
            </a:pPr>
            <a:r>
              <a:rPr b="1" i="0" lang="en-US" sz="1000" u="none" cap="none" strike="noStrike">
                <a:solidFill>
                  <a:srgbClr val="E0533D"/>
                </a:solidFill>
                <a:latin typeface="Poppins"/>
                <a:ea typeface="Poppins"/>
                <a:cs typeface="Poppins"/>
                <a:sym typeface="Poppins"/>
              </a:rPr>
              <a:t>ATTACCO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22"/>
          <p:cNvSpPr/>
          <p:nvPr/>
        </p:nvSpPr>
        <p:spPr>
          <a:xfrm>
            <a:off x="868680" y="4626864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CSRF &amp; XSS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3/a_arrow.png" id="612" name="Google Shape;6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464058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22"/>
          <p:cNvSpPr/>
          <p:nvPr/>
        </p:nvSpPr>
        <p:spPr>
          <a:xfrm>
            <a:off x="5715000" y="4389120"/>
            <a:ext cx="5577840" cy="777240"/>
          </a:xfrm>
          <a:prstGeom prst="roundRect">
            <a:avLst>
              <a:gd fmla="val 11765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22"/>
          <p:cNvSpPr/>
          <p:nvPr/>
        </p:nvSpPr>
        <p:spPr>
          <a:xfrm>
            <a:off x="5943600" y="4576572"/>
            <a:ext cx="402336" cy="402336"/>
          </a:xfrm>
          <a:prstGeom prst="ellipse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check.png" id="615" name="Google Shape;6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4184" y="467715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22"/>
          <p:cNvSpPr/>
          <p:nvPr/>
        </p:nvSpPr>
        <p:spPr>
          <a:xfrm>
            <a:off x="6537960" y="44805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000"/>
              <a:buFont typeface="Poppins"/>
              <a:buNone/>
            </a:pPr>
            <a:r>
              <a:rPr b="1" i="0" lang="en-US" sz="10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DIFESA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2"/>
          <p:cNvSpPr/>
          <p:nvPr/>
        </p:nvSpPr>
        <p:spPr>
          <a:xfrm>
            <a:off x="6537960" y="4700649"/>
            <a:ext cx="45720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token CSRF sui form ed escaping automatico nei template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2"/>
          <p:cNvSpPr/>
          <p:nvPr/>
        </p:nvSpPr>
        <p:spPr>
          <a:xfrm>
            <a:off x="566928" y="6291072"/>
            <a:ext cx="199705" cy="256032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9" name="Google Shape;619;p22"/>
          <p:cNvCxnSpPr/>
          <p:nvPr/>
        </p:nvCxnSpPr>
        <p:spPr>
          <a:xfrm>
            <a:off x="566928" y="6398605"/>
            <a:ext cx="199705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0" name="Google Shape;620;p22"/>
          <p:cNvSpPr/>
          <p:nvPr/>
        </p:nvSpPr>
        <p:spPr>
          <a:xfrm>
            <a:off x="598881" y="6321796"/>
            <a:ext cx="25962" cy="46086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21" name="Google Shape;621;p22"/>
          <p:cNvCxnSpPr/>
          <p:nvPr/>
        </p:nvCxnSpPr>
        <p:spPr>
          <a:xfrm>
            <a:off x="666780" y="6424209"/>
            <a:ext cx="0" cy="8193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22"/>
          <p:cNvCxnSpPr/>
          <p:nvPr/>
        </p:nvCxnSpPr>
        <p:spPr>
          <a:xfrm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22"/>
          <p:cNvCxnSpPr/>
          <p:nvPr/>
        </p:nvCxnSpPr>
        <p:spPr>
          <a:xfrm flipH="1" rot="10800000">
            <a:off x="625815" y="6440595"/>
            <a:ext cx="81930" cy="49158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3"/>
          <p:cNvSpPr/>
          <p:nvPr/>
        </p:nvSpPr>
        <p:spPr>
          <a:xfrm>
            <a:off x="548640" y="566928"/>
            <a:ext cx="146400" cy="146400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3"/>
          <p:cNvSpPr/>
          <p:nvPr/>
        </p:nvSpPr>
        <p:spPr>
          <a:xfrm>
            <a:off x="822960" y="45720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0A8F61"/>
                </a:solidFill>
                <a:latin typeface="Poppins"/>
                <a:ea typeface="Poppins"/>
                <a:cs typeface="Poppins"/>
                <a:sym typeface="Poppins"/>
              </a:rPr>
              <a:t>PROGETTAZIONE CONCETTUALE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3"/>
          <p:cNvSpPr/>
          <p:nvPr/>
        </p:nvSpPr>
        <p:spPr>
          <a:xfrm>
            <a:off x="521208" y="948762"/>
            <a:ext cx="10789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2800"/>
              <a:buFont typeface="Poppins"/>
              <a:buNone/>
            </a:pPr>
            <a:r>
              <a:rPr b="1" lang="en-US" sz="2800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Implementazioni</a:t>
            </a:r>
            <a:r>
              <a:rPr b="1" lang="en-US" sz="2800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 Future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3"/>
          <p:cNvSpPr/>
          <p:nvPr/>
        </p:nvSpPr>
        <p:spPr>
          <a:xfrm>
            <a:off x="3334531" y="1911157"/>
            <a:ext cx="2670000" cy="1417200"/>
          </a:xfrm>
          <a:prstGeom prst="roundRect">
            <a:avLst>
              <a:gd fmla="val 7097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23"/>
          <p:cNvSpPr/>
          <p:nvPr/>
        </p:nvSpPr>
        <p:spPr>
          <a:xfrm>
            <a:off x="3626862" y="2468943"/>
            <a:ext cx="2121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None/>
            </a:pPr>
            <a:r>
              <a:rPr b="1" lang="en-US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Aggiunta Dispensa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3"/>
          <p:cNvSpPr/>
          <p:nvPr/>
        </p:nvSpPr>
        <p:spPr>
          <a:xfrm>
            <a:off x="6187458" y="1911157"/>
            <a:ext cx="2670000" cy="1417200"/>
          </a:xfrm>
          <a:prstGeom prst="roundRect">
            <a:avLst>
              <a:gd fmla="val 7097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23"/>
          <p:cNvSpPr/>
          <p:nvPr/>
        </p:nvSpPr>
        <p:spPr>
          <a:xfrm>
            <a:off x="6598904" y="2468942"/>
            <a:ext cx="1847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None/>
            </a:pPr>
            <a:r>
              <a:rPr b="1" lang="en-US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Integrazione smart home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23"/>
          <p:cNvSpPr/>
          <p:nvPr/>
        </p:nvSpPr>
        <p:spPr>
          <a:xfrm>
            <a:off x="3334528" y="3529670"/>
            <a:ext cx="2670000" cy="1417200"/>
          </a:xfrm>
          <a:prstGeom prst="roundRect">
            <a:avLst>
              <a:gd fmla="val 7097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23"/>
          <p:cNvSpPr/>
          <p:nvPr/>
        </p:nvSpPr>
        <p:spPr>
          <a:xfrm>
            <a:off x="3745973" y="4032464"/>
            <a:ext cx="1847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None/>
            </a:pPr>
            <a:r>
              <a:rPr b="1" lang="en-US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Metodologia Inserimento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3"/>
          <p:cNvSpPr/>
          <p:nvPr/>
        </p:nvSpPr>
        <p:spPr>
          <a:xfrm>
            <a:off x="566928" y="6291072"/>
            <a:ext cx="199800" cy="255900"/>
          </a:xfrm>
          <a:prstGeom prst="roundRect">
            <a:avLst>
              <a:gd fmla="val 32051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9" name="Google Shape;639;p23"/>
          <p:cNvCxnSpPr/>
          <p:nvPr/>
        </p:nvCxnSpPr>
        <p:spPr>
          <a:xfrm>
            <a:off x="566928" y="6398605"/>
            <a:ext cx="199800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0" name="Google Shape;640;p23"/>
          <p:cNvSpPr/>
          <p:nvPr/>
        </p:nvSpPr>
        <p:spPr>
          <a:xfrm>
            <a:off x="598881" y="6321796"/>
            <a:ext cx="26100" cy="46200"/>
          </a:xfrm>
          <a:prstGeom prst="roundRect">
            <a:avLst>
              <a:gd fmla="val 7044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1" name="Google Shape;641;p23"/>
          <p:cNvCxnSpPr/>
          <p:nvPr/>
        </p:nvCxnSpPr>
        <p:spPr>
          <a:xfrm>
            <a:off x="666780" y="6424209"/>
            <a:ext cx="0" cy="8190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23"/>
          <p:cNvCxnSpPr/>
          <p:nvPr/>
        </p:nvCxnSpPr>
        <p:spPr>
          <a:xfrm>
            <a:off x="625815" y="6440595"/>
            <a:ext cx="81900" cy="4920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23"/>
          <p:cNvCxnSpPr/>
          <p:nvPr/>
        </p:nvCxnSpPr>
        <p:spPr>
          <a:xfrm flipH="1" rot="10800000">
            <a:off x="625815" y="6440553"/>
            <a:ext cx="81900" cy="4920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4" name="Google Shape;644;p23"/>
          <p:cNvSpPr/>
          <p:nvPr/>
        </p:nvSpPr>
        <p:spPr>
          <a:xfrm>
            <a:off x="6187453" y="3529670"/>
            <a:ext cx="2670000" cy="1417200"/>
          </a:xfrm>
          <a:prstGeom prst="roundRect">
            <a:avLst>
              <a:gd fmla="val 7097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3"/>
          <p:cNvSpPr/>
          <p:nvPr/>
        </p:nvSpPr>
        <p:spPr>
          <a:xfrm>
            <a:off x="6598898" y="4032489"/>
            <a:ext cx="1847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1400"/>
              <a:buFont typeface="Poppins"/>
              <a:buNone/>
            </a:pPr>
            <a:r>
              <a:rPr b="1" lang="en-US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Avvisi Prodotti aperti non consumati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24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24"/>
          <p:cNvSpPr/>
          <p:nvPr/>
        </p:nvSpPr>
        <p:spPr>
          <a:xfrm>
            <a:off x="0" y="0"/>
            <a:ext cx="6095700" cy="1051500"/>
          </a:xfrm>
          <a:prstGeom prst="rect">
            <a:avLst/>
          </a:prstGeom>
          <a:solidFill>
            <a:srgbClr val="11B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24"/>
          <p:cNvSpPr/>
          <p:nvPr/>
        </p:nvSpPr>
        <p:spPr>
          <a:xfrm>
            <a:off x="566928" y="310896"/>
            <a:ext cx="342300" cy="438900"/>
          </a:xfrm>
          <a:prstGeom prst="roundRect">
            <a:avLst>
              <a:gd fmla="val 18697" name="adj"/>
            </a:avLst>
          </a:prstGeom>
          <a:solidFill>
            <a:srgbClr val="FFFFFF"/>
          </a:solidFill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4" name="Google Shape;654;p24"/>
          <p:cNvCxnSpPr/>
          <p:nvPr/>
        </p:nvCxnSpPr>
        <p:spPr>
          <a:xfrm>
            <a:off x="566928" y="495239"/>
            <a:ext cx="342300" cy="0"/>
          </a:xfrm>
          <a:prstGeom prst="straightConnector1">
            <a:avLst/>
          </a:prstGeom>
          <a:noFill/>
          <a:ln cap="flat" cmpd="sng" w="19050">
            <a:solidFill>
              <a:srgbClr val="0A8F6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5" name="Google Shape;655;p24"/>
          <p:cNvSpPr/>
          <p:nvPr/>
        </p:nvSpPr>
        <p:spPr>
          <a:xfrm>
            <a:off x="621704" y="363565"/>
            <a:ext cx="44400" cy="78900"/>
          </a:xfrm>
          <a:prstGeom prst="roundRect">
            <a:avLst>
              <a:gd fmla="val 41091" name="adj"/>
            </a:avLst>
          </a:prstGeom>
          <a:solidFill>
            <a:srgbClr val="0FB3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6" name="Google Shape;656;p24"/>
          <p:cNvCxnSpPr/>
          <p:nvPr/>
        </p:nvCxnSpPr>
        <p:spPr>
          <a:xfrm>
            <a:off x="738104" y="539130"/>
            <a:ext cx="0" cy="14040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7" name="Google Shape;657;p24"/>
          <p:cNvCxnSpPr/>
          <p:nvPr/>
        </p:nvCxnSpPr>
        <p:spPr>
          <a:xfrm>
            <a:off x="667878" y="567221"/>
            <a:ext cx="140400" cy="8430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8" name="Google Shape;658;p24"/>
          <p:cNvCxnSpPr/>
          <p:nvPr/>
        </p:nvCxnSpPr>
        <p:spPr>
          <a:xfrm flipH="1" rot="10800000">
            <a:off x="667878" y="567192"/>
            <a:ext cx="140400" cy="84300"/>
          </a:xfrm>
          <a:prstGeom prst="straightConnector1">
            <a:avLst/>
          </a:prstGeom>
          <a:noFill/>
          <a:ln cap="flat" cmpd="sng" w="19050">
            <a:solidFill>
              <a:srgbClr val="13C0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9" name="Google Shape;659;p24"/>
          <p:cNvSpPr/>
          <p:nvPr/>
        </p:nvSpPr>
        <p:spPr>
          <a:xfrm>
            <a:off x="563703" y="1751755"/>
            <a:ext cx="11064300" cy="4023300"/>
          </a:xfrm>
          <a:prstGeom prst="roundRect">
            <a:avLst>
              <a:gd fmla="val 2955" name="adj"/>
            </a:avLst>
          </a:prstGeom>
          <a:solidFill>
            <a:srgbClr val="FFFFFF"/>
          </a:solidFill>
          <a:ln cap="flat" cmpd="sng" w="12700">
            <a:solidFill>
              <a:srgbClr val="E4ECE8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10241C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4"/>
          <p:cNvSpPr/>
          <p:nvPr/>
        </p:nvSpPr>
        <p:spPr>
          <a:xfrm>
            <a:off x="974545" y="2880290"/>
            <a:ext cx="10515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41C"/>
              </a:buClr>
              <a:buSzPts val="5400"/>
              <a:buFont typeface="Poppins"/>
              <a:buNone/>
            </a:pPr>
            <a:r>
              <a:rPr b="1" i="0" lang="en-US" sz="5400" u="none" cap="none" strike="noStrike">
                <a:solidFill>
                  <a:srgbClr val="10241C"/>
                </a:solidFill>
                <a:latin typeface="Poppins"/>
                <a:ea typeface="Poppins"/>
                <a:cs typeface="Poppins"/>
                <a:sym typeface="Poppins"/>
              </a:rPr>
              <a:t>Fridge </a:t>
            </a:r>
            <a:r>
              <a:rPr b="1" i="0" lang="en-US" sz="5400" u="none" cap="none" strike="noStrike">
                <a:solidFill>
                  <a:srgbClr val="0FB37A"/>
                </a:solidFill>
                <a:latin typeface="Poppins"/>
                <a:ea typeface="Poppins"/>
                <a:cs typeface="Poppins"/>
                <a:sym typeface="Poppins"/>
              </a:rPr>
              <a:t>Manager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4"/>
          <p:cNvSpPr/>
          <p:nvPr/>
        </p:nvSpPr>
        <p:spPr>
          <a:xfrm>
            <a:off x="5172900" y="5043750"/>
            <a:ext cx="1857600" cy="523200"/>
          </a:xfrm>
          <a:prstGeom prst="roundRect">
            <a:avLst>
              <a:gd fmla="val 50000" name="adj"/>
            </a:avLst>
          </a:prstGeom>
          <a:solidFill>
            <a:srgbClr val="E7F8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Poppins"/>
                <a:ea typeface="Poppins"/>
                <a:cs typeface="Poppins"/>
                <a:sym typeface="Poppins"/>
              </a:rPr>
              <a:t>Antonino Valese</a:t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2" name="Google Shape;662;p24"/>
          <p:cNvSpPr txBox="1"/>
          <p:nvPr/>
        </p:nvSpPr>
        <p:spPr>
          <a:xfrm>
            <a:off x="1678800" y="4337150"/>
            <a:ext cx="8834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FB37A"/>
                </a:solidFill>
                <a:latin typeface="Poppins"/>
                <a:ea typeface="Poppins"/>
                <a:cs typeface="Poppins"/>
                <a:sym typeface="Poppins"/>
              </a:rPr>
              <a:t>Grazie </a:t>
            </a:r>
            <a:r>
              <a:rPr b="1" lang="en-US" sz="2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dell’attenzione</a:t>
            </a:r>
            <a:endParaRPr sz="2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63" name="Google Shape;663;p24">
            <a:hlinkClick r:id="rId3"/>
          </p:cNvPr>
          <p:cNvSpPr/>
          <p:nvPr/>
        </p:nvSpPr>
        <p:spPr>
          <a:xfrm>
            <a:off x="9021890" y="4958780"/>
            <a:ext cx="2606100" cy="777300"/>
          </a:xfrm>
          <a:prstGeom prst="roundRect">
            <a:avLst>
              <a:gd fmla="val 1647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3/w_github.png" id="664" name="Google Shape;6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50490" y="5150804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65" name="Google Shape;665;p24"/>
          <p:cNvSpPr/>
          <p:nvPr/>
        </p:nvSpPr>
        <p:spPr>
          <a:xfrm>
            <a:off x="9753410" y="4958780"/>
            <a:ext cx="17832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8F61"/>
              </a:buClr>
              <a:buSzPts val="1300"/>
              <a:buFont typeface="Poppins"/>
              <a:buNone/>
            </a:pPr>
            <a:r>
              <a:rPr b="1" i="0" lang="en-US" sz="1300" u="sng" cap="none" strike="noStrike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5"/>
              </a:rPr>
              <a:t>Codice su GitHub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6" name="Google Shape;666;p24" title="2523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81928" y="5082225"/>
            <a:ext cx="548625" cy="54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